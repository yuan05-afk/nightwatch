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3.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4.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01dcf5b2-fa29-67f1-4214-1ce0074e55b1}">
          <p14:sldIdLst>
            <p14:sldId id="256"/>
          </p14:sldIdLst>
        </p14:section>
        <p14:section name="Problem" id="{9d5b7cab-a069-c374-bb07-38e5b8a19008}">
          <p14:sldIdLst>
            <p14:sldId id="257"/>
            <p14:sldId id="258"/>
          </p14:sldIdLst>
        </p14:section>
        <p14:section name="Solution" id="{5da8c7b0-f2bd-bb50-90c8-50b4d06def33}">
          <p14:sldIdLst>
            <p14:sldId id="259"/>
            <p14:sldId id="260"/>
            <p14:sldId id="261"/>
          </p14:sldIdLst>
        </p14:section>
        <p14:section name="Evidence" id="{a3a4efd8-3139-c271-b458-92577584022f}">
          <p14:sldIdLst>
            <p14:sldId id="262"/>
            <p14:sldId id="263"/>
            <p14:sldId id="264"/>
            <p14:sldId id="265"/>
          </p14:sldIdLst>
        </p14:section>
        <p14:section name="Impact" id="{506c1f8f-4886-ef0e-0f71-1bca4b57bc6a}">
          <p14:sldIdLst>
            <p14:sldId id="266"/>
            <p14:sldId id="267"/>
            <p14:sldId id="268"/>
          </p14:sldIdLst>
        </p14:section>
        <p14:section name="Close" id="{aee43b00-7002-bb21-4b95-be3af58f064c}">
          <p14:sldIdLst>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EDEFEF"/>
                </a:solidFill>
                <a:latin typeface="+mn-lt"/>
              </a:defRPr>
            </a:pPr>
            <a:r>
              <a:rPr sz="1400" b="0" i="0" u="none" strike="noStrike">
                <a:solidFill>
                  <a:srgbClr val="EDEFEF"/>
                </a:solidFill>
                <a:latin typeface="+mn-lt"/>
              </a:rPr>
              <a:t>Same model, two ways of testing (%)</a:t>
            </a:r>
          </a:p>
        </c:rich>
      </c:tx>
      <c:layout/>
      <c:overlay val="0"/>
    </c:title>
    <c:autoTitleDeleted val="0"/>
    <c:plotArea>
      <c:layout/>
      <c:barChart>
        <c:barDir val="col"/>
        <c:grouping val="clustered"/>
        <c:varyColors val="0"/>
        <c:ser>
          <c:idx val="0"/>
          <c:order val="0"/>
          <c:tx>
            <c:strRef>
              <c:f>Sheet1!$B$1</c:f>
              <c:strCache>
                <c:ptCount val="1"/>
                <c:pt idx="0">
                  <c:v>Accuracy</c:v>
                </c:pt>
              </c:strCache>
            </c:strRef>
          </c:tx>
          <c:spPr>
            <a:solidFill>
              <a:srgbClr val="A3ABAD"/>
            </a:solidFill>
            <a:effectLst/>
          </c:spPr>
          <c:invertIfNegative val="0"/>
          <c:dLbls>
            <c:numFmt formatCode="0.00" sourceLinked="0"/>
            <c:txPr>
              <a:bodyPr/>
              <a:lstStyle/>
              <a:p>
                <a:pPr>
                  <a:defRPr b="0" i="0" strike="noStrike" sz="1200" u="none">
                    <a:solidFill>
                      <a:srgbClr val="EDEFEF"/>
                    </a:solidFill>
                    <a:latin typeface="+mn-lt"/>
                  </a:defRPr>
                </a:pPr>
              </a:p>
            </c:txPr>
            <c:showLegendKey val="0"/>
            <c:showVal val="1"/>
            <c:showCatName val="0"/>
            <c:showSerName val="0"/>
            <c:showPercent val="0"/>
            <c:showBubbleSize val="0"/>
            <c:showLeaderLines val="0"/>
          </c:dLbls>
          <c:cat>
            <c:multiLvlStrRef>
              <c:f>Sheet1!$A$2:$A$3</c:f>
              <c:multiLvlStrCache>
                <c:ptCount val="2"/>
                <c:lvl>
                  <c:pt idx="0">
                    <c:v>Random split</c:v>
                  </c:pt>
                  <c:pt idx="1">
                    <c:v>Split by time</c:v>
                  </c:pt>
                </c:lvl>
              </c:multiLvlStrCache>
            </c:multiLvlStrRef>
          </c:cat>
          <c:val>
            <c:numRef>
              <c:f>Sheet1!$B$2:$B$3</c:f>
              <c:numCache>
                <c:formatCode>General</c:formatCode>
                <c:ptCount val="2"/>
                <c:pt idx="0">
                  <c:v>99.9897618072553</c:v>
                </c:pt>
                <c:pt idx="1">
                  <c:v>99.86040361123167</c:v>
                </c:pt>
              </c:numCache>
            </c:numRef>
          </c:val>
        </c:ser>
        <c:ser>
          <c:idx val="1"/>
          <c:order val="1"/>
          <c:tx>
            <c:strRef>
              <c:f>Sheet1!$C$1</c:f>
              <c:strCache>
                <c:ptCount val="1"/>
                <c:pt idx="0">
                  <c:v>Macro-F1 over attack classes</c:v>
                </c:pt>
              </c:strCache>
            </c:strRef>
          </c:tx>
          <c:spPr>
            <a:solidFill>
              <a:srgbClr val="7FE3C4"/>
            </a:solidFill>
            <a:effectLst/>
          </c:spPr>
          <c:invertIfNegative val="0"/>
          <c:dLbls>
            <c:numFmt formatCode="0.00" sourceLinked="0"/>
            <c:txPr>
              <a:bodyPr/>
              <a:lstStyle/>
              <a:p>
                <a:pPr>
                  <a:defRPr b="0" i="0" strike="noStrike" sz="1200" u="none">
                    <a:solidFill>
                      <a:srgbClr val="EDEFEF"/>
                    </a:solidFill>
                    <a:latin typeface="+mn-lt"/>
                  </a:defRPr>
                </a:pPr>
              </a:p>
            </c:txPr>
            <c:showLegendKey val="0"/>
            <c:showVal val="1"/>
            <c:showCatName val="0"/>
            <c:showSerName val="0"/>
            <c:showPercent val="0"/>
            <c:showBubbleSize val="0"/>
            <c:showLeaderLines val="0"/>
          </c:dLbls>
          <c:cat>
            <c:multiLvlStrRef>
              <c:f>Sheet1!$A$2:$A$3</c:f>
              <c:multiLvlStrCache>
                <c:ptCount val="2"/>
                <c:lvl>
                  <c:pt idx="0">
                    <c:v>Random split</c:v>
                  </c:pt>
                  <c:pt idx="1">
                    <c:v>Split by time</c:v>
                  </c:pt>
                </c:lvl>
              </c:multiLvlStrCache>
            </c:multiLvlStrRef>
          </c:cat>
          <c:val>
            <c:numRef>
              <c:f>Sheet1!$C$2:$C$3</c:f>
              <c:numCache>
                <c:formatCode>General</c:formatCode>
                <c:ptCount val="2"/>
                <c:pt idx="0">
                  <c:v>88.16047608903729</c:v>
                </c:pt>
                <c:pt idx="1">
                  <c:v>86.48397290573514</c:v>
                </c:pt>
              </c:numCache>
            </c:numRef>
          </c:val>
        </c:ser>
        <c:dLbls>
          <c:numFmt formatCode="0.00" sourceLinked="0"/>
          <c:txPr>
            <a:bodyPr/>
            <a:lstStyle/>
            <a:p>
              <a:pPr>
                <a:defRPr b="0" i="0" strike="noStrike" sz="1200" u="none">
                  <a:solidFill>
                    <a:srgbClr val="EDEFEF"/>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A3ABAD"/>
                </a:solidFill>
                <a:latin typeface="+mn-lt"/>
              </a:defRPr>
            </a:pPr>
            <a:endParaRPr lang="en-US"/>
          </a:p>
        </c:txPr>
        <c:crossAx val="2094734552"/>
        <c:crosses val="autoZero"/>
        <c:auto val="1"/>
        <c:lblAlgn val="ctr"/>
        <c:noMultiLvlLbl val="1"/>
      </c:catAx>
      <c:valAx>
        <c:axId val="2094734552"/>
        <c:scaling>
          <c:orientation val="minMax"/>
          <c:max val="115"/>
          <c:min val="0"/>
        </c:scaling>
        <c:delete val="0"/>
        <c:axPos val="l"/>
        <c:majorGridlines>
          <c:spPr>
            <a:ln w="9525" cap="flat">
              <a:solidFill>
                <a:srgbClr val="262C2F"/>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7D8689"/>
                </a:solidFill>
                <a:latin typeface="+mn-lt"/>
              </a:defRPr>
            </a:pPr>
            <a:endParaRPr lang="en-US"/>
          </a:p>
        </c:txPr>
        <c:crossAx val="2094734554"/>
        <c:crosses val="autoZero"/>
        <c:crossBetween val="between"/>
        <c:majorUnit val="25"/>
      </c:valAx>
      <c:spPr>
        <a:noFill/>
        <a:ln>
          <a:noFill/>
        </a:ln>
        <a:effectLst/>
      </c:spPr>
    </c:plotArea>
    <c:legend>
      <c:legendPos val="b"/>
      <c:overlay val="0"/>
      <c:txPr>
        <a:bodyPr/>
        <a:lstStyle/>
        <a:p>
          <a:pPr>
            <a:defRPr sz="1200">
              <a:solidFill>
                <a:srgbClr val="A3ABAD"/>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EDEFEF"/>
                </a:solidFill>
                <a:latin typeface="+mn-lt"/>
              </a:defRPr>
            </a:pPr>
            <a:r>
              <a:rPr sz="1400" b="0" i="0" u="none" strike="noStrike">
                <a:solidFill>
                  <a:srgbClr val="EDEFEF"/>
                </a:solidFill>
                <a:latin typeface="+mn-lt"/>
              </a:rPr>
              <a:t>Macro-F1 on calibration data (%)</a:t>
            </a:r>
          </a:p>
        </c:rich>
      </c:tx>
      <c:layout/>
      <c:overlay val="0"/>
    </c:title>
    <c:autoTitleDeleted val="0"/>
    <c:plotArea>
      <c:layout/>
      <c:barChart>
        <c:barDir val="col"/>
        <c:grouping val="clustered"/>
        <c:varyColors val="0"/>
        <c:ser>
          <c:idx val="0"/>
          <c:order val="0"/>
          <c:tx>
            <c:strRef>
              <c:f>Sheet1!$B$1</c:f>
              <c:strCache>
                <c:ptCount val="1"/>
                <c:pt idx="0">
                  <c:v>Macro-F1, attack classes</c:v>
                </c:pt>
              </c:strCache>
            </c:strRef>
          </c:tx>
          <c:spPr>
            <a:solidFill>
              <a:srgbClr val="A3ABAD"/>
            </a:solidFill>
            <a:effectLst/>
          </c:spPr>
          <c:invertIfNegative val="0"/>
          <c:dLbls>
            <c:numFmt formatCode="0.0" sourceLinked="0"/>
            <c:txPr>
              <a:bodyPr/>
              <a:lstStyle/>
              <a:p>
                <a:pPr>
                  <a:defRPr b="0" i="0" strike="noStrike" sz="1200" u="none">
                    <a:solidFill>
                      <a:srgbClr val="EDEFEF"/>
                    </a:solidFill>
                    <a:latin typeface="+mn-lt"/>
                  </a:defRPr>
                </a:pPr>
              </a:p>
            </c:txPr>
            <c:showLegendKey val="0"/>
            <c:showVal val="1"/>
            <c:showCatName val="0"/>
            <c:showSerName val="0"/>
            <c:showPercent val="0"/>
            <c:showBubbleSize val="0"/>
            <c:showLeaderLines val="0"/>
          </c:dLbls>
          <c:dPt>
            <c:idx val="0"/>
            <c:invertIfNegative val="0"/>
            <c:bubble3D val="0"/>
            <c:spPr>
              <a:solidFill>
                <a:srgbClr val="A3ABAD"/>
              </a:solidFill>
              <a:effectLst/>
            </c:spPr>
          </c:dPt>
          <c:dPt>
            <c:idx val="1"/>
            <c:invertIfNegative val="0"/>
            <c:bubble3D val="0"/>
            <c:spPr>
              <a:solidFill>
                <a:srgbClr val="7FE3C4"/>
              </a:solidFill>
              <a:effectLst/>
            </c:spPr>
          </c:dPt>
          <c:dPt>
            <c:idx val="2"/>
            <c:invertIfNegative val="0"/>
            <c:bubble3D val="0"/>
            <c:spPr>
              <a:solidFill>
                <a:srgbClr val="A3ABAD"/>
              </a:solidFill>
              <a:effectLst/>
            </c:spPr>
          </c:dPt>
          <c:cat>
            <c:multiLvlStrRef>
              <c:f>Sheet1!$A$2:$A$4</c:f>
              <c:multiLvlStrCache>
                <c:ptCount val="3"/>
                <c:lvl>
                  <c:pt idx="0">
                    <c:v>No reweighting</c:v>
                  </c:pt>
                  <c:pt idx="1">
                    <c:v>Class-balanced</c:v>
                  </c:pt>
                  <c:pt idx="2">
                    <c:v>SMOTE oversampling</c:v>
                  </c:pt>
                </c:lvl>
              </c:multiLvlStrCache>
            </c:multiLvlStrRef>
          </c:cat>
          <c:val>
            <c:numRef>
              <c:f>Sheet1!$B$2:$B$4</c:f>
              <c:numCache>
                <c:formatCode>General</c:formatCode>
                <c:ptCount val="3"/>
                <c:pt idx="0">
                  <c:v>87.7994312412787</c:v>
                </c:pt>
                <c:pt idx="1">
                  <c:v>92.44691237748252</c:v>
                </c:pt>
                <c:pt idx="2">
                  <c:v>91.920463295582</c:v>
                </c:pt>
              </c:numCache>
            </c:numRef>
          </c:val>
        </c:ser>
        <c:dLbls>
          <c:numFmt formatCode="0.0" sourceLinked="0"/>
          <c:txPr>
            <a:bodyPr/>
            <a:lstStyle/>
            <a:p>
              <a:pPr>
                <a:defRPr b="0" i="0" strike="noStrike" sz="1200" u="none">
                  <a:solidFill>
                    <a:srgbClr val="EDEFEF"/>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A3ABAD"/>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262C2F"/>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7D8689"/>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EDEFEF"/>
                </a:solidFill>
                <a:latin typeface="+mn-lt"/>
              </a:defRPr>
            </a:pPr>
            <a:r>
              <a:rPr sz="1400" b="0" i="0" u="none" strike="noStrike">
                <a:solidFill>
                  <a:srgbClr val="EDEFEF"/>
                </a:solidFill>
                <a:latin typeface="+mn-lt"/>
              </a:rPr>
              <a:t>Each family removed from training, then tested (% flagged)</a:t>
            </a:r>
          </a:p>
        </c:rich>
      </c:tx>
      <c:layout/>
      <c:overlay val="0"/>
    </c:title>
    <c:autoTitleDeleted val="0"/>
    <c:plotArea>
      <c:layout/>
      <c:barChart>
        <c:barDir val="bar"/>
        <c:grouping val="clustered"/>
        <c:varyColors val="0"/>
        <c:ser>
          <c:idx val="0"/>
          <c:order val="0"/>
          <c:tx>
            <c:strRef>
              <c:f>Sheet1!$B$1</c:f>
              <c:strCache>
                <c:ptCount val="1"/>
                <c:pt idx="0">
                  <c:v>Raised an alert</c:v>
                </c:pt>
              </c:strCache>
            </c:strRef>
          </c:tx>
          <c:spPr>
            <a:solidFill>
              <a:srgbClr val="7FE3C4"/>
            </a:solidFill>
            <a:effectLst/>
          </c:spPr>
          <c:invertIfNegative val="0"/>
          <c:dLbls>
            <c:numFmt formatCode="0.0" sourceLinked="0"/>
            <c:txPr>
              <a:bodyPr/>
              <a:lstStyle/>
              <a:p>
                <a:pPr>
                  <a:defRPr b="0" i="0" strike="noStrike" sz="1200" u="none">
                    <a:solidFill>
                      <a:srgbClr val="EDEFEF"/>
                    </a:solidFill>
                    <a:latin typeface="+mn-lt"/>
                  </a:defRPr>
                </a:pPr>
              </a:p>
            </c:txPr>
            <c:showLegendKey val="0"/>
            <c:showVal val="1"/>
            <c:showCatName val="0"/>
            <c:showSerName val="0"/>
            <c:showPercent val="0"/>
            <c:showBubbleSize val="0"/>
            <c:showLeaderLines val="0"/>
          </c:dLbls>
          <c:dPt>
            <c:idx val="0"/>
            <c:invertIfNegative val="0"/>
            <c:bubble3D val="0"/>
            <c:spPr>
              <a:solidFill>
                <a:srgbClr val="7FE3C4"/>
              </a:solidFill>
              <a:effectLst/>
            </c:spPr>
          </c:dPt>
          <c:dPt>
            <c:idx val="1"/>
            <c:invertIfNegative val="0"/>
            <c:bubble3D val="0"/>
            <c:spPr>
              <a:solidFill>
                <a:srgbClr val="7FE3C4"/>
              </a:solidFill>
              <a:effectLst/>
            </c:spPr>
          </c:dPt>
          <c:dPt>
            <c:idx val="2"/>
            <c:invertIfNegative val="0"/>
            <c:bubble3D val="0"/>
            <c:spPr>
              <a:solidFill>
                <a:srgbClr val="7FE3C4"/>
              </a:solidFill>
              <a:effectLst/>
            </c:spPr>
          </c:dPt>
          <c:dPt>
            <c:idx val="3"/>
            <c:invertIfNegative val="0"/>
            <c:bubble3D val="0"/>
            <c:spPr>
              <a:solidFill>
                <a:srgbClr val="E9748F"/>
              </a:solidFill>
              <a:effectLst/>
            </c:spPr>
          </c:dPt>
          <c:dPt>
            <c:idx val="4"/>
            <c:invertIfNegative val="0"/>
            <c:bubble3D val="0"/>
            <c:spPr>
              <a:solidFill>
                <a:srgbClr val="E9748F"/>
              </a:solidFill>
              <a:effectLst/>
            </c:spPr>
          </c:dPt>
          <c:dPt>
            <c:idx val="5"/>
            <c:invertIfNegative val="0"/>
            <c:bubble3D val="0"/>
            <c:spPr>
              <a:solidFill>
                <a:srgbClr val="E9748F"/>
              </a:solidFill>
              <a:effectLst/>
            </c:spPr>
          </c:dPt>
          <c:dPt>
            <c:idx val="6"/>
            <c:invertIfNegative val="0"/>
            <c:bubble3D val="0"/>
            <c:spPr>
              <a:solidFill>
                <a:srgbClr val="E9748F"/>
              </a:solidFill>
              <a:effectLst/>
            </c:spPr>
          </c:dPt>
          <c:dPt>
            <c:idx val="7"/>
            <c:invertIfNegative val="0"/>
            <c:bubble3D val="0"/>
            <c:spPr>
              <a:solidFill>
                <a:srgbClr val="E9748F"/>
              </a:solidFill>
              <a:effectLst/>
            </c:spPr>
          </c:dPt>
          <c:cat>
            <c:multiLvlStrRef>
              <c:f>Sheet1!$A$2:$A$9</c:f>
              <c:multiLvlStrCache>
                <c:ptCount val="8"/>
                <c:lvl>
                  <c:pt idx="0">
                    <c:v>Heartbleed</c:v>
                  </c:pt>
                  <c:pt idx="1">
                    <c:v>DDoS</c:v>
                  </c:pt>
                  <c:pt idx="2">
                    <c:v>Web Injection</c:v>
                  </c:pt>
                  <c:pt idx="3">
                    <c:v>DoS</c:v>
                  </c:pt>
                  <c:pt idx="4">
                    <c:v>Infiltration</c:v>
                  </c:pt>
                  <c:pt idx="5">
                    <c:v>Botnet</c:v>
                  </c:pt>
                  <c:pt idx="6">
                    <c:v>Brute Force</c:v>
                  </c:pt>
                  <c:pt idx="7">
                    <c:v>PortScan</c:v>
                  </c:pt>
                </c:lvl>
              </c:multiLvlStrCache>
            </c:multiLvlStrRef>
          </c:cat>
          <c:val>
            <c:numRef>
              <c:f>Sheet1!$B$2:$B$9</c:f>
              <c:numCache>
                <c:formatCode>General</c:formatCode>
                <c:ptCount val="8"/>
                <c:pt idx="0">
                  <c:v>100</c:v>
                </c:pt>
                <c:pt idx="1">
                  <c:v>99.99789792314807</c:v>
                </c:pt>
                <c:pt idx="2">
                  <c:v>58.06451612903225</c:v>
                </c:pt>
                <c:pt idx="3">
                  <c:v>40.60092988568699</c:v>
                </c:pt>
                <c:pt idx="4">
                  <c:v>19.444444444444446</c:v>
                </c:pt>
                <c:pt idx="5">
                  <c:v>7.336956521739131</c:v>
                </c:pt>
                <c:pt idx="6">
                  <c:v>1.1561518698258637</c:v>
                </c:pt>
                <c:pt idx="7">
                  <c:v>0.0654152569173385</c:v>
                </c:pt>
              </c:numCache>
            </c:numRef>
          </c:val>
        </c:ser>
        <c:dLbls>
          <c:numFmt formatCode="0.0" sourceLinked="0"/>
          <c:txPr>
            <a:bodyPr/>
            <a:lstStyle/>
            <a:p>
              <a:pPr>
                <a:defRPr b="0" i="0" strike="noStrike" sz="1200" u="none">
                  <a:solidFill>
                    <a:srgbClr val="EDEFEF"/>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A3ABAD"/>
                </a:solidFill>
                <a:latin typeface="+mn-lt"/>
              </a:defRPr>
            </a:pPr>
            <a:endParaRPr lang="en-US"/>
          </a:p>
        </c:txPr>
        <c:crossAx val="2094734552"/>
        <c:crosses val="autoZero"/>
        <c:auto val="1"/>
        <c:lblAlgn val="ctr"/>
        <c:noMultiLvlLbl val="1"/>
      </c:catAx>
      <c:valAx>
        <c:axId val="2094734552"/>
        <c:scaling>
          <c:orientation val="minMax"/>
          <c:max val="115"/>
          <c:min val="0"/>
        </c:scaling>
        <c:delete val="0"/>
        <c:axPos val="b"/>
        <c:majorGridlines>
          <c:spPr>
            <a:ln w="9525" cap="flat">
              <a:solidFill>
                <a:srgbClr val="262C2F"/>
              </a:solidFill>
              <a:prstDash val="solid"/>
              <a:round/>
            </a:ln>
          </c:spPr>
        </c:majorGridlines>
        <c:numFmt formatCode="0" sourceLinked="0"/>
        <c:majorTickMark val="out"/>
        <c:minorTickMark val="none"/>
        <c:tickLblPos val="low"/>
        <c:spPr>
          <a:ln w="12700" cap="flat">
            <a:noFill/>
            <a:prstDash val="solid"/>
            <a:round/>
          </a:ln>
        </c:spPr>
        <c:txPr>
          <a:bodyPr/>
          <a:lstStyle/>
          <a:p>
            <a:pPr>
              <a:defRPr sz="1000" b="0" i="0" u="none" strike="noStrike">
                <a:solidFill>
                  <a:srgbClr val="7D8689"/>
                </a:solidFill>
                <a:latin typeface="+mn-lt"/>
              </a:defRPr>
            </a:pPr>
            <a:endParaRPr lang="en-US"/>
          </a:p>
        </c:txPr>
        <c:crossAx val="2094734554"/>
        <c:crosses val="autoZero"/>
        <c:crossBetween val="between"/>
        <c:majorUnit val="25"/>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EDEFEF"/>
                </a:solidFill>
                <a:latin typeface="+mn-lt"/>
              </a:defRPr>
            </a:pPr>
            <a:r>
              <a:rPr sz="1400" b="0" i="0" u="none" strike="noStrike">
                <a:solidFill>
                  <a:srgbClr val="EDEFEF"/>
                </a:solidFill>
                <a:latin typeface="+mn-lt"/>
              </a:rPr>
              <a:t>Real attack incidents reached, out of 22, by incidents reviewed per day</a:t>
            </a:r>
          </a:p>
        </c:rich>
      </c:tx>
      <c:layout/>
      <c:overlay val="0"/>
    </c:title>
    <c:autoTitleDeleted val="0"/>
    <c:plotArea>
      <c:layout/>
      <c:barChart>
        <c:barDir val="col"/>
        <c:grouping val="clustered"/>
        <c:varyColors val="0"/>
        <c:ser>
          <c:idx val="0"/>
          <c:order val="0"/>
          <c:tx>
            <c:strRef>
              <c:f>Sheet1!$B$1</c:f>
              <c:strCache>
                <c:ptCount val="1"/>
                <c:pt idx="0">
                  <c:v>Nightwatch order</c:v>
                </c:pt>
              </c:strCache>
            </c:strRef>
          </c:tx>
          <c:spPr>
            <a:solidFill>
              <a:srgbClr val="7FE3C4"/>
            </a:solidFill>
            <a:effectLst/>
          </c:spPr>
          <c:invertIfNegative val="0"/>
          <c:dLbls>
            <c:numFmt formatCode="#,##0" sourceLinked="0"/>
            <c:txPr>
              <a:bodyPr/>
              <a:lstStyle/>
              <a:p>
                <a:pPr>
                  <a:defRPr b="0" i="0" strike="noStrike" sz="1200" u="none">
                    <a:solidFill>
                      <a:srgbClr val="EDEFEF"/>
                    </a:solidFill>
                    <a:latin typeface="+mn-lt"/>
                  </a:defRPr>
                </a:pPr>
              </a:p>
            </c:txPr>
            <c:showLegendKey val="0"/>
            <c:showVal val="1"/>
            <c:showCatName val="0"/>
            <c:showSerName val="0"/>
            <c:showPercent val="0"/>
            <c:showBubbleSize val="0"/>
            <c:showLeaderLines val="0"/>
          </c:dLbls>
          <c:cat>
            <c:multiLvlStrRef>
              <c:f>Sheet1!$A$2:$A$5</c:f>
              <c:multiLvlStrCache>
                <c:ptCount val="4"/>
                <c:lvl>
                  <c:pt idx="0">
                    <c:v>5 reviewed</c:v>
                  </c:pt>
                  <c:pt idx="1">
                    <c:v>10 reviewed</c:v>
                  </c:pt>
                  <c:pt idx="2">
                    <c:v>20 reviewed</c:v>
                  </c:pt>
                  <c:pt idx="3">
                    <c:v>40 reviewed</c:v>
                  </c:pt>
                </c:lvl>
              </c:multiLvlStrCache>
            </c:multiLvlStrRef>
          </c:cat>
          <c:val>
            <c:numRef>
              <c:f>Sheet1!$B$2:$B$5</c:f>
              <c:numCache>
                <c:formatCode>General</c:formatCode>
                <c:ptCount val="4"/>
                <c:pt idx="0">
                  <c:v>14</c:v>
                </c:pt>
                <c:pt idx="1">
                  <c:v>19</c:v>
                </c:pt>
                <c:pt idx="2">
                  <c:v>21</c:v>
                </c:pt>
                <c:pt idx="3">
                  <c:v>21</c:v>
                </c:pt>
              </c:numCache>
            </c:numRef>
          </c:val>
        </c:ser>
        <c:ser>
          <c:idx val="1"/>
          <c:order val="1"/>
          <c:tx>
            <c:strRef>
              <c:f>Sheet1!$C$1</c:f>
              <c:strCache>
                <c:ptCount val="1"/>
                <c:pt idx="0">
                  <c:v>Oldest first</c:v>
                </c:pt>
              </c:strCache>
            </c:strRef>
          </c:tx>
          <c:spPr>
            <a:solidFill>
              <a:srgbClr val="A3ABAD"/>
            </a:solidFill>
            <a:effectLst/>
          </c:spPr>
          <c:invertIfNegative val="0"/>
          <c:dLbls>
            <c:numFmt formatCode="#,##0" sourceLinked="0"/>
            <c:txPr>
              <a:bodyPr/>
              <a:lstStyle/>
              <a:p>
                <a:pPr>
                  <a:defRPr b="0" i="0" strike="noStrike" sz="1200" u="none">
                    <a:solidFill>
                      <a:srgbClr val="EDEFEF"/>
                    </a:solidFill>
                    <a:latin typeface="+mn-lt"/>
                  </a:defRPr>
                </a:pPr>
              </a:p>
            </c:txPr>
            <c:showLegendKey val="0"/>
            <c:showVal val="1"/>
            <c:showCatName val="0"/>
            <c:showSerName val="0"/>
            <c:showPercent val="0"/>
            <c:showBubbleSize val="0"/>
            <c:showLeaderLines val="0"/>
          </c:dLbls>
          <c:cat>
            <c:multiLvlStrRef>
              <c:f>Sheet1!$A$2:$A$5</c:f>
              <c:multiLvlStrCache>
                <c:ptCount val="4"/>
                <c:lvl>
                  <c:pt idx="0">
                    <c:v>5 reviewed</c:v>
                  </c:pt>
                  <c:pt idx="1">
                    <c:v>10 reviewed</c:v>
                  </c:pt>
                  <c:pt idx="2">
                    <c:v>20 reviewed</c:v>
                  </c:pt>
                  <c:pt idx="3">
                    <c:v>40 reviewed</c:v>
                  </c:pt>
                </c:lvl>
              </c:multiLvlStrCache>
            </c:multiLvlStrRef>
          </c:cat>
          <c:val>
            <c:numRef>
              <c:f>Sheet1!$C$2:$C$5</c:f>
              <c:numCache>
                <c:formatCode>General</c:formatCode>
                <c:ptCount val="4"/>
                <c:pt idx="0">
                  <c:v>12</c:v>
                </c:pt>
                <c:pt idx="1">
                  <c:v>16</c:v>
                </c:pt>
                <c:pt idx="2">
                  <c:v>16</c:v>
                </c:pt>
                <c:pt idx="3">
                  <c:v>16</c:v>
                </c:pt>
              </c:numCache>
            </c:numRef>
          </c:val>
        </c:ser>
        <c:ser>
          <c:idx val="2"/>
          <c:order val="2"/>
          <c:tx>
            <c:strRef>
              <c:f>Sheet1!$D$1</c:f>
              <c:strCache>
                <c:ptCount val="1"/>
                <c:pt idx="0">
                  <c:v>Highest confidence first</c:v>
                </c:pt>
              </c:strCache>
            </c:strRef>
          </c:tx>
          <c:spPr>
            <a:solidFill>
              <a:srgbClr val="4A5255"/>
            </a:solidFill>
            <a:effectLst/>
          </c:spPr>
          <c:invertIfNegative val="0"/>
          <c:dLbls>
            <c:numFmt formatCode="#,##0" sourceLinked="0"/>
            <c:txPr>
              <a:bodyPr/>
              <a:lstStyle/>
              <a:p>
                <a:pPr>
                  <a:defRPr b="0" i="0" strike="noStrike" sz="1200" u="none">
                    <a:solidFill>
                      <a:srgbClr val="EDEFEF"/>
                    </a:solidFill>
                    <a:latin typeface="+mn-lt"/>
                  </a:defRPr>
                </a:pPr>
              </a:p>
            </c:txPr>
            <c:showLegendKey val="0"/>
            <c:showVal val="1"/>
            <c:showCatName val="0"/>
            <c:showSerName val="0"/>
            <c:showPercent val="0"/>
            <c:showBubbleSize val="0"/>
            <c:showLeaderLines val="0"/>
          </c:dLbls>
          <c:cat>
            <c:multiLvlStrRef>
              <c:f>Sheet1!$A$2:$A$5</c:f>
              <c:multiLvlStrCache>
                <c:ptCount val="4"/>
                <c:lvl>
                  <c:pt idx="0">
                    <c:v>5 reviewed</c:v>
                  </c:pt>
                  <c:pt idx="1">
                    <c:v>10 reviewed</c:v>
                  </c:pt>
                  <c:pt idx="2">
                    <c:v>20 reviewed</c:v>
                  </c:pt>
                  <c:pt idx="3">
                    <c:v>40 reviewed</c:v>
                  </c:pt>
                </c:lvl>
              </c:multiLvlStrCache>
            </c:multiLvlStrRef>
          </c:cat>
          <c:val>
            <c:numRef>
              <c:f>Sheet1!$D$2:$D$5</c:f>
              <c:numCache>
                <c:formatCode>General</c:formatCode>
                <c:ptCount val="4"/>
                <c:pt idx="0">
                  <c:v>1</c:v>
                </c:pt>
                <c:pt idx="1">
                  <c:v>1</c:v>
                </c:pt>
                <c:pt idx="2">
                  <c:v>2</c:v>
                </c:pt>
                <c:pt idx="3">
                  <c:v>2</c:v>
                </c:pt>
              </c:numCache>
            </c:numRef>
          </c:val>
        </c:ser>
        <c:dLbls>
          <c:numFmt formatCode="#,##0" sourceLinked="0"/>
          <c:txPr>
            <a:bodyPr/>
            <a:lstStyle/>
            <a:p>
              <a:pPr>
                <a:defRPr b="0" i="0" strike="noStrike" sz="1200" u="none">
                  <a:solidFill>
                    <a:srgbClr val="EDEFEF"/>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A3ABAD"/>
                </a:solidFill>
                <a:latin typeface="+mn-lt"/>
              </a:defRPr>
            </a:pPr>
            <a:endParaRPr lang="en-US"/>
          </a:p>
        </c:txPr>
        <c:crossAx val="2094734552"/>
        <c:crosses val="autoZero"/>
        <c:auto val="1"/>
        <c:lblAlgn val="ctr"/>
        <c:noMultiLvlLbl val="1"/>
      </c:catAx>
      <c:valAx>
        <c:axId val="2094734552"/>
        <c:scaling>
          <c:orientation val="minMax"/>
          <c:max val="22"/>
          <c:min val="0"/>
        </c:scaling>
        <c:delete val="0"/>
        <c:axPos val="l"/>
        <c:majorGridlines>
          <c:spPr>
            <a:ln w="9525" cap="flat">
              <a:solidFill>
                <a:srgbClr val="262C2F"/>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7D8689"/>
                </a:solidFill>
                <a:latin typeface="+mn-lt"/>
              </a:defRPr>
            </a:pPr>
            <a:endParaRPr lang="en-US"/>
          </a:p>
        </c:txPr>
        <c:crossAx val="2094734554"/>
        <c:crosses val="autoZero"/>
        <c:crossBetween val="between"/>
        <c:majorUnit val="5"/>
      </c:valAx>
      <c:spPr>
        <a:noFill/>
        <a:ln>
          <a:noFill/>
        </a:ln>
        <a:effectLst/>
      </c:spPr>
    </c:plotArea>
    <c:legend>
      <c:legendPos val="b"/>
      <c:overlay val="0"/>
      <c:txPr>
        <a:bodyPr/>
        <a:lstStyle/>
        <a:p>
          <a:pPr>
            <a:defRPr sz="1200">
              <a:solidFill>
                <a:srgbClr val="A3ABAD"/>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Nightwatch is a night-shift security analyst for organizations that cannot afford one. In one sentence: it watches network traffic, tells you in plain language which attacks matter most, and drafts the breach notification the law requires within 72 hours.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a story judges in the Philippines will remember. PhilHealth was not a small organization, yet the attack went unnoticed until it was too late. Small organizations face the same attackers with even less: one IT person, no 24/7 monitoring. And the Data Privacy Act still requires them to notify the NPC within 72 hours.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gap Nightwatch fills. Not another detector, but the analyst work around detection: noticing, prioritizing, and reporting.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five steps. Emphasize the last panel: a human stays in charge. Automatic blocking on a model's guess can take down a hospital's own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point. Start a Friday replay. Point at the severity column: five Critical botnet incidents at the top. Then move the capacity slider and show how many real attacks fit into 30 minutes compared with reviewing oldest-first.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an incident, read the plain-language explanation, confirm the threat, then click Create incident report. The deadline is counted from the first confirmed threat. Be clear that this is a draft for a human, not legal advice.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rigor slide. Accuracy barely moves between the two tests, because 99% of traffic is normal. Macro-F1 over attack classes is the honest number, and we test on traffic later in time than training, the way a real deployment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track asks for robust minority-class performance. We compared three imbalance strategies and chose on calibration data only. The table shows the rarest classes: Heartbleed has two test flows, SQL injection three. Every one of them raised an alert, though not always with the right name, which is why the uncertain ones go to Needs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innovation slide. Conformal prediction gives a calibrated guarantee instead of a guess. The false alert rate is a policy we set before testing: 0.2% per class, which lands at 0.42% overall. We also show the trade-off curve on the Method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track asks for adapting to evolving attacks. We tested it the hard way: remove a whole attack family from training, then see if it gets flagged. Structurally new attacks are caught. Mimicry attacks are not. We disclose this rather than hide it, because the competition rules and real users both punish misleading claims.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Reviewing ten incidents a day in Nightwatch's order reaches 19 of 22 real attack incidents; oldest-first reaches 16; trusting the model's confidence alone reaches 1, because confident alerts are mostly repeats of the same flood.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security product should be secure itself. Mention that scoring in TypeScript means no cold-starting Python server during judging, and that the parity test proves the web app runs the exact model we evaluated.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evidence section with feasibility and honesty. The limits column is deliberate; judges trust a team that knows where its system breaks.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on the mission. Invite judges to try the console with the demo account.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NW_TITLE">
    <p:bg>
      <p:bgPr>
        <a:solidFill>
          <a:srgbClr val="07090A"/>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NW_CONTENT">
    <p:bg>
      <p:bgPr>
        <a:solidFill>
          <a:srgbClr val="07090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82296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3" name="Text 0"/>
          <p:cNvSpPr/>
          <p:nvPr/>
        </p:nvSpPr>
        <p:spPr>
          <a:xfrm>
            <a:off x="548640" y="6419088"/>
            <a:ext cx="2743200" cy="274320"/>
          </a:xfrm>
          <a:prstGeom prst="rect">
            <a:avLst/>
          </a:prstGeom>
          <a:noFill/>
          <a:ln/>
        </p:spPr>
        <p:txBody>
          <a:bodyPr wrap="square" lIns="0" tIns="0" rIns="0" bIns="0" rtlCol="0" anchor="ctr"/>
          <a:lstStyle/>
          <a:p>
            <a:pPr indent="0" marL="0">
              <a:buNone/>
            </a:pPr>
            <a:r>
              <a:rPr lang="en-US" sz="1000" dirty="0">
                <a:solidFill>
                  <a:srgbClr val="7D8689"/>
                </a:solidFill>
              </a:rPr>
              <a:t>Nightwatch</a:t>
            </a:r>
            <a:endParaRPr lang="en-US" sz="10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D8689"/>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D8689"/>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143000"/>
            <a:ext cx="5669280" cy="457200"/>
          </a:xfrm>
          <a:prstGeom prst="rect">
            <a:avLst/>
          </a:prstGeom>
          <a:noFill/>
          <a:ln/>
        </p:spPr>
        <p:txBody>
          <a:bodyPr wrap="square" lIns="0" tIns="0" rIns="0" bIns="0" rtlCol="0" anchor="t"/>
          <a:lstStyle/>
          <a:p>
            <a:pPr indent="0" marL="0">
              <a:buNone/>
            </a:pPr>
            <a:r>
              <a:rPr lang="en-US" sz="1800" b="1" dirty="0">
                <a:solidFill>
                  <a:schemeClr val="accent1"/>
                </a:solidFill>
              </a:rPr>
              <a:t>Nightwatch</a:t>
            </a:r>
            <a:endParaRPr lang="en-US" sz="1800" dirty="0"/>
          </a:p>
        </p:txBody>
      </p:sp>
      <p:sp>
        <p:nvSpPr>
          <p:cNvPr id="3" name="Text 1"/>
          <p:cNvSpPr txBox="1"/>
          <p:nvPr/>
        </p:nvSpPr>
        <p:spPr>
          <a:xfrm>
            <a:off x="548640" y="1691640"/>
            <a:ext cx="5669280" cy="1828800"/>
          </a:xfrm>
          <a:prstGeom prst="rect">
            <a:avLst/>
          </a:prstGeom>
          <a:noFill/>
          <a:ln/>
        </p:spPr>
        <p:txBody>
          <a:bodyPr wrap="square" lIns="0" tIns="0" rIns="0" bIns="0" rtlCol="0" anchor="t"/>
          <a:lstStyle/>
          <a:p>
            <a:pPr indent="0" marL="0">
              <a:buNone/>
            </a:pPr>
            <a:r>
              <a:rPr lang="en-US" sz="4400" b="1" dirty="0">
                <a:solidFill>
                  <a:schemeClr val="bg1"/>
                </a:solidFill>
                <a:latin typeface="IBM Plex Sans" pitchFamily="34" charset="0"/>
                <a:ea typeface="IBM Plex Sans" pitchFamily="34" charset="-122"/>
                <a:cs typeface="IBM Plex Sans" pitchFamily="34" charset="-120"/>
              </a:rPr>
              <a:t>Your night-shift security analyst</a:t>
            </a:r>
            <a:endParaRPr lang="en-US" sz="4400" dirty="0"/>
          </a:p>
        </p:txBody>
      </p:sp>
      <p:sp>
        <p:nvSpPr>
          <p:cNvPr id="4" name="Text 2"/>
          <p:cNvSpPr txBox="1"/>
          <p:nvPr/>
        </p:nvSpPr>
        <p:spPr>
          <a:xfrm>
            <a:off x="548640" y="3429000"/>
            <a:ext cx="5394960" cy="1554480"/>
          </a:xfrm>
          <a:prstGeom prst="rect">
            <a:avLst/>
          </a:prstGeom>
          <a:noFill/>
          <a:ln/>
        </p:spPr>
        <p:txBody>
          <a:bodyPr wrap="square" lIns="0" tIns="0" rIns="0" bIns="0" rtlCol="0" anchor="t"/>
          <a:lstStyle/>
          <a:p>
            <a:pPr indent="0" marL="0">
              <a:lnSpc>
                <a:spcPct val="115000"/>
              </a:lnSpc>
              <a:buNone/>
            </a:pPr>
            <a:r>
              <a:rPr lang="en-US" sz="1600" dirty="0">
                <a:solidFill>
                  <a:schemeClr val="bg2"/>
                </a:solidFill>
              </a:rPr>
              <a:t>Network intrusion detection that explains every alert in plain language, ranks what to fix first, and drafts the breach report the law requires within 72 hours. For hospitals, schools, local governments and small businesses with no security team.</a:t>
            </a:r>
            <a:endParaRPr lang="en-US" sz="1600" dirty="0"/>
          </a:p>
        </p:txBody>
      </p:sp>
      <p:sp>
        <p:nvSpPr>
          <p:cNvPr id="5" name="Text 3"/>
          <p:cNvSpPr txBox="1"/>
          <p:nvPr/>
        </p:nvSpPr>
        <p:spPr>
          <a:xfrm>
            <a:off x="548640" y="5440680"/>
            <a:ext cx="5486400" cy="640080"/>
          </a:xfrm>
          <a:prstGeom prst="rect">
            <a:avLst/>
          </a:prstGeom>
          <a:noFill/>
          <a:ln/>
        </p:spPr>
        <p:txBody>
          <a:bodyPr wrap="square" lIns="0" tIns="0" rIns="0" bIns="0" rtlCol="0" anchor="t"/>
          <a:lstStyle/>
          <a:p>
            <a:pPr indent="0" marL="0">
              <a:buNone/>
            </a:pPr>
            <a:r>
              <a:rPr lang="en-US" sz="1200" dirty="0">
                <a:solidFill>
                  <a:srgbClr val="7D8689"/>
                </a:solidFill>
              </a:rPr>
              <a:t>DataNova 2026 Global Data-thon</a:t>
            </a:r>
            <a:endParaRPr lang="en-US" sz="1200" dirty="0"/>
          </a:p>
          <a:p>
            <a:pPr indent="0" marL="0">
              <a:buNone/>
            </a:pPr>
            <a:r>
              <a:rPr lang="en-US" sz="1200" dirty="0">
                <a:solidFill>
                  <a:srgbClr val="7D8689"/>
                </a:solidFill>
              </a:rPr>
              <a:t>Cybersecurity and Fraud Detection, DN-CY-01</a:t>
            </a:r>
            <a:endParaRPr lang="en-US" sz="1200" dirty="0"/>
          </a:p>
        </p:txBody>
      </p:sp>
      <p:sp>
        <p:nvSpPr>
          <p:cNvPr id="6" name="Nightwatch landing page frame"/>
          <p:cNvSpPr/>
          <p:nvPr/>
        </p:nvSpPr>
        <p:spPr>
          <a:xfrm>
            <a:off x="6501384" y="1289304"/>
            <a:ext cx="5193792" cy="3273552"/>
          </a:xfrm>
          <a:prstGeom prst="rect">
            <a:avLst/>
          </a:prstGeom>
          <a:solidFill>
            <a:schemeClr val="tx2"/>
          </a:solidFill>
          <a:ln w="9525">
            <a:solidFill>
              <a:srgbClr val="262C2F"/>
            </a:solidFill>
            <a:prstDash val="solid"/>
          </a:ln>
        </p:spPr>
      </p:sp>
      <p:pic>
        <p:nvPicPr>
          <p:cNvPr id="7" name="Nightwatch landing page" descr="Nightwatch landing page">    </p:cNvPr>
          <p:cNvPicPr>
            <a:picLocks noChangeAspect="1"/>
          </p:cNvPicPr>
          <p:nvPr/>
        </p:nvPicPr>
        <p:blipFill>
          <a:blip r:embed="rId1"/>
          <a:stretch>
            <a:fillRect/>
          </a:stretch>
        </p:blipFill>
        <p:spPr>
          <a:xfrm>
            <a:off x="6537960" y="1325880"/>
            <a:ext cx="5120640" cy="32004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822960"/>
          </a:xfrm>
          <a:prstGeom prst="rect">
            <a:avLst/>
          </a:prstGeom>
          <a:noFill/>
          <a:ln/>
        </p:spPr>
        <p:txBody>
          <a:bodyPr wrap="square" lIns="0" tIns="0" rIns="0" bIns="0" rtlCol="0" anchor="t"/>
          <a:lstStyle/>
          <a:p>
            <a:pPr algn="l" indent="0" marL="0">
              <a:buNone/>
            </a:pPr>
            <a:r>
              <a:rPr lang="en-US" sz="3000" b="1" dirty="0">
                <a:solidFill>
                  <a:schemeClr val="bg1"/>
                </a:solidFill>
              </a:rPr>
              <a:t>PhilHealth, 2023: the attack nobody was watching for</a:t>
            </a:r>
            <a:endParaRPr lang="en-US" sz="3000" dirty="0"/>
          </a:p>
        </p:txBody>
      </p:sp>
      <p:sp>
        <p:nvSpPr>
          <p:cNvPr id="3" name="Text 1"/>
          <p:cNvSpPr txBox="1"/>
          <p:nvPr/>
        </p:nvSpPr>
        <p:spPr>
          <a:xfrm>
            <a:off x="548640" y="1371600"/>
            <a:ext cx="5760720" cy="1737360"/>
          </a:xfrm>
          <a:prstGeom prst="rect">
            <a:avLst/>
          </a:prstGeom>
          <a:noFill/>
          <a:ln/>
        </p:spPr>
        <p:txBody>
          <a:bodyPr wrap="square" lIns="0" tIns="0" rIns="0" bIns="0" rtlCol="0" anchor="t"/>
          <a:lstStyle/>
          <a:p>
            <a:pPr indent="0" marL="0">
              <a:lnSpc>
                <a:spcPct val="115000"/>
              </a:lnSpc>
              <a:buNone/>
            </a:pPr>
            <a:r>
              <a:rPr lang="en-US" sz="1600" dirty="0">
                <a:solidFill>
                  <a:schemeClr val="bg2"/>
                </a:solidFill>
              </a:rPr>
              <a:t>On 22 September 2023 the Medusa ransomware group hit the Philippine Health Insurance Corporation. About 72 workstations were encrypted, a $300,000 ransom was refused, and the stolen data was published. The antivirus licence had lapsed five months earlier.</a:t>
            </a:r>
            <a:endParaRPr lang="en-US" sz="1600" dirty="0"/>
          </a:p>
        </p:txBody>
      </p:sp>
      <p:sp>
        <p:nvSpPr>
          <p:cNvPr id="4" name="problem stat 1"/>
          <p:cNvSpPr/>
          <p:nvPr/>
        </p:nvSpPr>
        <p:spPr>
          <a:xfrm>
            <a:off x="548640" y="3566160"/>
            <a:ext cx="3520440" cy="2011680"/>
          </a:xfrm>
          <a:prstGeom prst="roundRect">
            <a:avLst>
              <a:gd name="adj" fmla="val 3636"/>
            </a:avLst>
          </a:prstGeom>
          <a:solidFill>
            <a:schemeClr val="tx2"/>
          </a:solidFill>
          <a:ln w="9525">
            <a:solidFill>
              <a:srgbClr val="262C2F"/>
            </a:solidFill>
            <a:prstDash val="solid"/>
          </a:ln>
        </p:spPr>
      </p:sp>
      <p:sp>
        <p:nvSpPr>
          <p:cNvPr id="5" name="problem stat 1 value"/>
          <p:cNvSpPr txBox="1"/>
          <p:nvPr/>
        </p:nvSpPr>
        <p:spPr>
          <a:xfrm>
            <a:off x="822960" y="3794760"/>
            <a:ext cx="3017520" cy="731520"/>
          </a:xfrm>
          <a:prstGeom prst="rect">
            <a:avLst/>
          </a:prstGeom>
          <a:noFill/>
          <a:ln/>
        </p:spPr>
        <p:txBody>
          <a:bodyPr wrap="square" lIns="0" tIns="0" rIns="0" bIns="0" rtlCol="0" anchor="t"/>
          <a:lstStyle/>
          <a:p>
            <a:pPr indent="0" marL="0">
              <a:buNone/>
            </a:pPr>
            <a:r>
              <a:rPr lang="en-US" sz="4000" b="1" dirty="0">
                <a:solidFill>
                  <a:schemeClr val="accent3"/>
                </a:solidFill>
                <a:latin typeface="IBM Plex Sans" pitchFamily="34" charset="0"/>
                <a:ea typeface="IBM Plex Sans" pitchFamily="34" charset="-122"/>
                <a:cs typeface="IBM Plex Sans" pitchFamily="34" charset="-120"/>
              </a:rPr>
              <a:t>~13M</a:t>
            </a:r>
            <a:endParaRPr lang="en-US" sz="4000" dirty="0"/>
          </a:p>
        </p:txBody>
      </p:sp>
      <p:sp>
        <p:nvSpPr>
          <p:cNvPr id="6" name="problem stat 1 label"/>
          <p:cNvSpPr txBox="1"/>
          <p:nvPr/>
        </p:nvSpPr>
        <p:spPr>
          <a:xfrm>
            <a:off x="822960" y="4572000"/>
            <a:ext cx="3017520" cy="685800"/>
          </a:xfrm>
          <a:prstGeom prst="rect">
            <a:avLst/>
          </a:prstGeom>
          <a:noFill/>
          <a:ln/>
        </p:spPr>
        <p:txBody>
          <a:bodyPr wrap="square" lIns="0" tIns="0" rIns="0" bIns="0" rtlCol="0" anchor="t"/>
          <a:lstStyle/>
          <a:p>
            <a:pPr indent="0" marL="0">
              <a:buNone/>
            </a:pPr>
            <a:r>
              <a:rPr lang="en-US" sz="1400" dirty="0">
                <a:solidFill>
                  <a:schemeClr val="bg2"/>
                </a:solidFill>
              </a:rPr>
              <a:t>members whose data was reported compromised</a:t>
            </a:r>
            <a:endParaRPr lang="en-US" sz="1400" dirty="0"/>
          </a:p>
        </p:txBody>
      </p:sp>
      <p:sp>
        <p:nvSpPr>
          <p:cNvPr id="7" name="problem stat 2"/>
          <p:cNvSpPr/>
          <p:nvPr/>
        </p:nvSpPr>
        <p:spPr>
          <a:xfrm>
            <a:off x="4297680" y="3566160"/>
            <a:ext cx="3520440" cy="2011680"/>
          </a:xfrm>
          <a:prstGeom prst="roundRect">
            <a:avLst>
              <a:gd name="adj" fmla="val 3636"/>
            </a:avLst>
          </a:prstGeom>
          <a:solidFill>
            <a:schemeClr val="tx2"/>
          </a:solidFill>
          <a:ln w="9525">
            <a:solidFill>
              <a:srgbClr val="262C2F"/>
            </a:solidFill>
            <a:prstDash val="solid"/>
          </a:ln>
        </p:spPr>
      </p:sp>
      <p:sp>
        <p:nvSpPr>
          <p:cNvPr id="8" name="problem stat 2 value"/>
          <p:cNvSpPr txBox="1"/>
          <p:nvPr/>
        </p:nvSpPr>
        <p:spPr>
          <a:xfrm>
            <a:off x="4572000" y="3794760"/>
            <a:ext cx="3017520" cy="731520"/>
          </a:xfrm>
          <a:prstGeom prst="rect">
            <a:avLst/>
          </a:prstGeom>
          <a:noFill/>
          <a:ln/>
        </p:spPr>
        <p:txBody>
          <a:bodyPr wrap="square" lIns="0" tIns="0" rIns="0" bIns="0" rtlCol="0" anchor="t"/>
          <a:lstStyle/>
          <a:p>
            <a:pPr indent="0" marL="0">
              <a:buNone/>
            </a:pPr>
            <a:r>
              <a:rPr lang="en-US" sz="4000" b="1" dirty="0">
                <a:solidFill>
                  <a:schemeClr val="accent2"/>
                </a:solidFill>
                <a:latin typeface="IBM Plex Sans" pitchFamily="34" charset="0"/>
                <a:ea typeface="IBM Plex Sans" pitchFamily="34" charset="-122"/>
                <a:cs typeface="IBM Plex Sans" pitchFamily="34" charset="-120"/>
              </a:rPr>
              <a:t>72 h</a:t>
            </a:r>
            <a:endParaRPr lang="en-US" sz="4000" dirty="0"/>
          </a:p>
        </p:txBody>
      </p:sp>
      <p:sp>
        <p:nvSpPr>
          <p:cNvPr id="9" name="problem stat 2 label"/>
          <p:cNvSpPr txBox="1"/>
          <p:nvPr/>
        </p:nvSpPr>
        <p:spPr>
          <a:xfrm>
            <a:off x="4572000" y="4572000"/>
            <a:ext cx="3017520" cy="685800"/>
          </a:xfrm>
          <a:prstGeom prst="rect">
            <a:avLst/>
          </a:prstGeom>
          <a:noFill/>
          <a:ln/>
        </p:spPr>
        <p:txBody>
          <a:bodyPr wrap="square" lIns="0" tIns="0" rIns="0" bIns="0" rtlCol="0" anchor="t"/>
          <a:lstStyle/>
          <a:p>
            <a:pPr indent="0" marL="0">
              <a:buNone/>
            </a:pPr>
            <a:r>
              <a:rPr lang="en-US" sz="1400" dirty="0">
                <a:solidFill>
                  <a:schemeClr val="bg2"/>
                </a:solidFill>
              </a:rPr>
              <a:t>to notify the National Privacy Commission after discovering a breach</a:t>
            </a:r>
            <a:endParaRPr lang="en-US" sz="1400" dirty="0"/>
          </a:p>
        </p:txBody>
      </p:sp>
      <p:sp>
        <p:nvSpPr>
          <p:cNvPr id="10" name="problem stat 3"/>
          <p:cNvSpPr/>
          <p:nvPr/>
        </p:nvSpPr>
        <p:spPr>
          <a:xfrm>
            <a:off x="8046720" y="3566160"/>
            <a:ext cx="3520440" cy="2011680"/>
          </a:xfrm>
          <a:prstGeom prst="roundRect">
            <a:avLst>
              <a:gd name="adj" fmla="val 3636"/>
            </a:avLst>
          </a:prstGeom>
          <a:solidFill>
            <a:schemeClr val="tx2"/>
          </a:solidFill>
          <a:ln w="9525">
            <a:solidFill>
              <a:srgbClr val="262C2F"/>
            </a:solidFill>
            <a:prstDash val="solid"/>
          </a:ln>
        </p:spPr>
      </p:sp>
      <p:sp>
        <p:nvSpPr>
          <p:cNvPr id="11" name="problem stat 3 value"/>
          <p:cNvSpPr txBox="1"/>
          <p:nvPr/>
        </p:nvSpPr>
        <p:spPr>
          <a:xfrm>
            <a:off x="8321040" y="3794760"/>
            <a:ext cx="3017520" cy="731520"/>
          </a:xfrm>
          <a:prstGeom prst="rect">
            <a:avLst/>
          </a:prstGeom>
          <a:noFill/>
          <a:ln/>
        </p:spPr>
        <p:txBody>
          <a:bodyPr wrap="square" lIns="0" tIns="0" rIns="0" bIns="0" rtlCol="0" anchor="t"/>
          <a:lstStyle/>
          <a:p>
            <a:pPr indent="0" marL="0">
              <a:buNone/>
            </a:pPr>
            <a:r>
              <a:rPr lang="en-US" sz="4000" b="1" dirty="0">
                <a:solidFill>
                  <a:schemeClr val="bg1"/>
                </a:solidFill>
                <a:latin typeface="IBM Plex Sans" pitchFamily="34" charset="0"/>
                <a:ea typeface="IBM Plex Sans" pitchFamily="34" charset="-122"/>
                <a:cs typeface="IBM Plex Sans" pitchFamily="34" charset="-120"/>
              </a:rPr>
              <a:t>46%</a:t>
            </a:r>
            <a:endParaRPr lang="en-US" sz="4000" dirty="0"/>
          </a:p>
        </p:txBody>
      </p:sp>
      <p:sp>
        <p:nvSpPr>
          <p:cNvPr id="12" name="problem stat 3 label"/>
          <p:cNvSpPr txBox="1"/>
          <p:nvPr/>
        </p:nvSpPr>
        <p:spPr>
          <a:xfrm>
            <a:off x="8321040" y="4572000"/>
            <a:ext cx="3017520" cy="685800"/>
          </a:xfrm>
          <a:prstGeom prst="rect">
            <a:avLst/>
          </a:prstGeom>
          <a:noFill/>
          <a:ln/>
        </p:spPr>
        <p:txBody>
          <a:bodyPr wrap="square" lIns="0" tIns="0" rIns="0" bIns="0" rtlCol="0" anchor="t"/>
          <a:lstStyle/>
          <a:p>
            <a:pPr indent="0" marL="0">
              <a:buNone/>
            </a:pPr>
            <a:r>
              <a:rPr lang="en-US" sz="1400" dirty="0">
                <a:solidFill>
                  <a:schemeClr val="bg2"/>
                </a:solidFill>
              </a:rPr>
              <a:t>of security alerts are false positives, even in staffed SOCs</a:t>
            </a:r>
            <a:endParaRPr lang="en-US" sz="1400" dirty="0"/>
          </a:p>
        </p:txBody>
      </p:sp>
      <p:sp>
        <p:nvSpPr>
          <p:cNvPr id="13" name="Text 11"/>
          <p:cNvSpPr txBox="1"/>
          <p:nvPr/>
        </p:nvSpPr>
        <p:spPr>
          <a:xfrm>
            <a:off x="6629400" y="1371600"/>
            <a:ext cx="4983480" cy="1737360"/>
          </a:xfrm>
          <a:prstGeom prst="rect">
            <a:avLst/>
          </a:prstGeom>
          <a:noFill/>
          <a:ln/>
        </p:spPr>
        <p:txBody>
          <a:bodyPr wrap="square" lIns="0" tIns="0" rIns="0" bIns="0" rtlCol="0" anchor="t"/>
          <a:lstStyle/>
          <a:p>
            <a:pPr indent="0" marL="0">
              <a:lnSpc>
                <a:spcPct val="115000"/>
              </a:lnSpc>
              <a:buNone/>
            </a:pPr>
            <a:r>
              <a:rPr lang="en-US" sz="1600" dirty="0">
                <a:solidFill>
                  <a:schemeClr val="bg1"/>
                </a:solidFill>
              </a:rPr>
              <a:t>If a national agency with an IT department missed it, a provincial hospital with one IT staff member and no night shift has little chance.</a:t>
            </a:r>
            <a:endParaRPr lang="en-US" sz="1600" dirty="0"/>
          </a:p>
        </p:txBody>
      </p:sp>
      <p:sp>
        <p:nvSpPr>
          <p:cNvPr id="14" name="Text 12"/>
          <p:cNvSpPr txBox="1"/>
          <p:nvPr/>
        </p:nvSpPr>
        <p:spPr>
          <a:xfrm>
            <a:off x="548640" y="6053328"/>
            <a:ext cx="11094415" cy="292608"/>
          </a:xfrm>
          <a:prstGeom prst="rect">
            <a:avLst/>
          </a:prstGeom>
          <a:noFill/>
          <a:ln/>
        </p:spPr>
        <p:txBody>
          <a:bodyPr wrap="square" lIns="0" tIns="0" rIns="0" bIns="0" rtlCol="0" anchor="b"/>
          <a:lstStyle/>
          <a:p>
            <a:pPr indent="0" marL="0">
              <a:buNone/>
            </a:pPr>
            <a:r>
              <a:rPr lang="en-US" sz="1000" dirty="0">
                <a:solidFill>
                  <a:srgbClr val="7D8689"/>
                </a:solidFill>
              </a:rPr>
              <a:t>Sources: PhilHealth public notice UN2023-10-03; HIPAA Journal (Oct 2023); NPC Circular 16-03; Microsoft and Omdia, State of the SOC 2026. Full list in docs/RESEARCH.md.</a:t>
            </a:r>
            <a:endParaRPr lang="en-US" sz="10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D8689"/>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822960"/>
          </a:xfrm>
          <a:prstGeom prst="rect">
            <a:avLst/>
          </a:prstGeom>
          <a:noFill/>
          <a:ln/>
        </p:spPr>
        <p:txBody>
          <a:bodyPr wrap="square" lIns="0" tIns="0" rIns="0" bIns="0" rtlCol="0" anchor="t"/>
          <a:lstStyle/>
          <a:p>
            <a:pPr algn="l" indent="0" marL="0">
              <a:buNone/>
            </a:pPr>
            <a:r>
              <a:rPr lang="en-US" sz="3000" b="1" dirty="0">
                <a:solidFill>
                  <a:schemeClr val="bg1"/>
                </a:solidFill>
              </a:rPr>
              <a:t>Three jobs small organizations cannot staff</a:t>
            </a:r>
            <a:endParaRPr lang="en-US" sz="3000" dirty="0"/>
          </a:p>
        </p:txBody>
      </p:sp>
      <p:sp>
        <p:nvSpPr>
          <p:cNvPr id="3" name="gap 1"/>
          <p:cNvSpPr/>
          <p:nvPr/>
        </p:nvSpPr>
        <p:spPr>
          <a:xfrm>
            <a:off x="548640" y="1463040"/>
            <a:ext cx="3520440" cy="3794760"/>
          </a:xfrm>
          <a:prstGeom prst="roundRect">
            <a:avLst>
              <a:gd name="adj" fmla="val 2078"/>
            </a:avLst>
          </a:prstGeom>
          <a:solidFill>
            <a:schemeClr val="tx2"/>
          </a:solidFill>
          <a:ln w="9525">
            <a:solidFill>
              <a:srgbClr val="262C2F"/>
            </a:solidFill>
            <a:prstDash val="solid"/>
          </a:ln>
        </p:spPr>
      </p:sp>
      <p:sp>
        <p:nvSpPr>
          <p:cNvPr id="4" name="step 1"/>
          <p:cNvSpPr/>
          <p:nvPr/>
        </p:nvSpPr>
        <p:spPr>
          <a:xfrm>
            <a:off x="822960" y="1737360"/>
            <a:ext cx="384048" cy="384048"/>
          </a:xfrm>
          <a:prstGeom prst="ellipse">
            <a:avLst/>
          </a:prstGeom>
          <a:solidFill>
            <a:schemeClr val="tx2"/>
          </a:solidFill>
          <a:ln w="12700">
            <a:solidFill>
              <a:srgbClr val="262C2F"/>
            </a:solidFill>
            <a:prstDash val="solid"/>
          </a:ln>
        </p:spPr>
      </p:sp>
      <p:sp>
        <p:nvSpPr>
          <p:cNvPr id="5" name="Text 3"/>
          <p:cNvSpPr txBox="1"/>
          <p:nvPr/>
        </p:nvSpPr>
        <p:spPr>
          <a:xfrm>
            <a:off x="822960" y="1737360"/>
            <a:ext cx="384048" cy="384048"/>
          </a:xfrm>
          <a:prstGeom prst="rect">
            <a:avLst/>
          </a:prstGeom>
          <a:noFill/>
          <a:ln/>
        </p:spPr>
        <p:txBody>
          <a:bodyPr wrap="square" lIns="0" tIns="0" rIns="0" bIns="0" rtlCol="0" anchor="ctr"/>
          <a:lstStyle/>
          <a:p>
            <a:pPr algn="ctr" indent="0" marL="0">
              <a:buNone/>
            </a:pPr>
            <a:r>
              <a:rPr lang="en-US" sz="1400" b="1" dirty="0">
                <a:solidFill>
                  <a:schemeClr val="bg2"/>
                </a:solidFill>
              </a:rPr>
              <a:t>1</a:t>
            </a:r>
            <a:endParaRPr lang="en-US" sz="1400" dirty="0"/>
          </a:p>
        </p:txBody>
      </p:sp>
      <p:sp>
        <p:nvSpPr>
          <p:cNvPr id="6" name="Text 4"/>
          <p:cNvSpPr txBox="1"/>
          <p:nvPr/>
        </p:nvSpPr>
        <p:spPr>
          <a:xfrm>
            <a:off x="822960" y="2331720"/>
            <a:ext cx="3017520" cy="457200"/>
          </a:xfrm>
          <a:prstGeom prst="rect">
            <a:avLst/>
          </a:prstGeom>
          <a:noFill/>
          <a:ln/>
        </p:spPr>
        <p:txBody>
          <a:bodyPr wrap="square" lIns="0" tIns="0" rIns="0" bIns="0" rtlCol="0" anchor="t"/>
          <a:lstStyle/>
          <a:p>
            <a:pPr indent="0" marL="0">
              <a:buNone/>
            </a:pPr>
            <a:r>
              <a:rPr lang="en-US" sz="2000" b="1" dirty="0">
                <a:solidFill>
                  <a:schemeClr val="bg1"/>
                </a:solidFill>
              </a:rPr>
              <a:t>Notice the attack</a:t>
            </a:r>
            <a:endParaRPr lang="en-US" sz="2000" dirty="0"/>
          </a:p>
        </p:txBody>
      </p:sp>
      <p:sp>
        <p:nvSpPr>
          <p:cNvPr id="7" name="Text 5"/>
          <p:cNvSpPr txBox="1"/>
          <p:nvPr/>
        </p:nvSpPr>
        <p:spPr>
          <a:xfrm>
            <a:off x="822960" y="2880360"/>
            <a:ext cx="3017520" cy="1737360"/>
          </a:xfrm>
          <a:prstGeom prst="rect">
            <a:avLst/>
          </a:prstGeom>
          <a:noFill/>
          <a:ln/>
        </p:spPr>
        <p:txBody>
          <a:bodyPr wrap="square" lIns="0" tIns="0" rIns="0" bIns="0" rtlCol="0" anchor="t"/>
          <a:lstStyle/>
          <a:p>
            <a:pPr indent="0" marL="0">
              <a:lnSpc>
                <a:spcPct val="110000"/>
              </a:lnSpc>
              <a:buNone/>
            </a:pPr>
            <a:r>
              <a:rPr lang="en-US" sz="1500" dirty="0">
                <a:solidFill>
                  <a:schemeClr val="bg2"/>
                </a:solidFill>
              </a:rPr>
              <a:t>Detection tools fire thousands of alerts a day. 73% of security teams name false positives as their top problem.</a:t>
            </a:r>
            <a:endParaRPr lang="en-US" sz="1500" dirty="0"/>
          </a:p>
        </p:txBody>
      </p:sp>
      <p:sp>
        <p:nvSpPr>
          <p:cNvPr id="8" name="Text 6"/>
          <p:cNvSpPr txBox="1"/>
          <p:nvPr/>
        </p:nvSpPr>
        <p:spPr>
          <a:xfrm>
            <a:off x="822960" y="4526280"/>
            <a:ext cx="3017520" cy="548640"/>
          </a:xfrm>
          <a:prstGeom prst="rect">
            <a:avLst/>
          </a:prstGeom>
          <a:noFill/>
          <a:ln/>
        </p:spPr>
        <p:txBody>
          <a:bodyPr wrap="square" lIns="0" tIns="0" rIns="0" bIns="0" rtlCol="0" anchor="t"/>
          <a:lstStyle/>
          <a:p>
            <a:pPr indent="0" marL="0">
              <a:buNone/>
            </a:pPr>
            <a:r>
              <a:rPr lang="en-US" sz="1500" dirty="0">
                <a:solidFill>
                  <a:schemeClr val="accent2"/>
                </a:solidFill>
              </a:rPr>
              <a:t>Most alerts are never looked at.</a:t>
            </a:r>
            <a:endParaRPr lang="en-US" sz="1500" dirty="0"/>
          </a:p>
        </p:txBody>
      </p:sp>
      <p:sp>
        <p:nvSpPr>
          <p:cNvPr id="9" name="gap 2"/>
          <p:cNvSpPr/>
          <p:nvPr/>
        </p:nvSpPr>
        <p:spPr>
          <a:xfrm>
            <a:off x="4297680" y="1463040"/>
            <a:ext cx="3520440" cy="3794760"/>
          </a:xfrm>
          <a:prstGeom prst="roundRect">
            <a:avLst>
              <a:gd name="adj" fmla="val 2078"/>
            </a:avLst>
          </a:prstGeom>
          <a:solidFill>
            <a:schemeClr val="tx2"/>
          </a:solidFill>
          <a:ln w="9525">
            <a:solidFill>
              <a:srgbClr val="262C2F"/>
            </a:solidFill>
            <a:prstDash val="solid"/>
          </a:ln>
        </p:spPr>
      </p:sp>
      <p:sp>
        <p:nvSpPr>
          <p:cNvPr id="10" name="step 2"/>
          <p:cNvSpPr/>
          <p:nvPr/>
        </p:nvSpPr>
        <p:spPr>
          <a:xfrm>
            <a:off x="4572000" y="1737360"/>
            <a:ext cx="384048" cy="384048"/>
          </a:xfrm>
          <a:prstGeom prst="ellipse">
            <a:avLst/>
          </a:prstGeom>
          <a:solidFill>
            <a:schemeClr val="tx2"/>
          </a:solidFill>
          <a:ln w="12700">
            <a:solidFill>
              <a:srgbClr val="262C2F"/>
            </a:solidFill>
            <a:prstDash val="solid"/>
          </a:ln>
        </p:spPr>
      </p:sp>
      <p:sp>
        <p:nvSpPr>
          <p:cNvPr id="11" name="Text 9"/>
          <p:cNvSpPr txBox="1"/>
          <p:nvPr/>
        </p:nvSpPr>
        <p:spPr>
          <a:xfrm>
            <a:off x="4572000" y="1737360"/>
            <a:ext cx="384048" cy="384048"/>
          </a:xfrm>
          <a:prstGeom prst="rect">
            <a:avLst/>
          </a:prstGeom>
          <a:noFill/>
          <a:ln/>
        </p:spPr>
        <p:txBody>
          <a:bodyPr wrap="square" lIns="0" tIns="0" rIns="0" bIns="0" rtlCol="0" anchor="ctr"/>
          <a:lstStyle/>
          <a:p>
            <a:pPr algn="ctr" indent="0" marL="0">
              <a:buNone/>
            </a:pPr>
            <a:r>
              <a:rPr lang="en-US" sz="1400" b="1" dirty="0">
                <a:solidFill>
                  <a:schemeClr val="bg2"/>
                </a:solidFill>
              </a:rPr>
              <a:t>2</a:t>
            </a:r>
            <a:endParaRPr lang="en-US" sz="1400" dirty="0"/>
          </a:p>
        </p:txBody>
      </p:sp>
      <p:sp>
        <p:nvSpPr>
          <p:cNvPr id="12" name="Text 10"/>
          <p:cNvSpPr txBox="1"/>
          <p:nvPr/>
        </p:nvSpPr>
        <p:spPr>
          <a:xfrm>
            <a:off x="4572000" y="2331720"/>
            <a:ext cx="3017520" cy="457200"/>
          </a:xfrm>
          <a:prstGeom prst="rect">
            <a:avLst/>
          </a:prstGeom>
          <a:noFill/>
          <a:ln/>
        </p:spPr>
        <p:txBody>
          <a:bodyPr wrap="square" lIns="0" tIns="0" rIns="0" bIns="0" rtlCol="0" anchor="t"/>
          <a:lstStyle/>
          <a:p>
            <a:pPr indent="0" marL="0">
              <a:buNone/>
            </a:pPr>
            <a:r>
              <a:rPr lang="en-US" sz="2000" b="1" dirty="0">
                <a:solidFill>
                  <a:schemeClr val="bg1"/>
                </a:solidFill>
              </a:rPr>
              <a:t>Decide what comes first</a:t>
            </a:r>
            <a:endParaRPr lang="en-US" sz="2000" dirty="0"/>
          </a:p>
        </p:txBody>
      </p:sp>
      <p:sp>
        <p:nvSpPr>
          <p:cNvPr id="13" name="Text 11"/>
          <p:cNvSpPr txBox="1"/>
          <p:nvPr/>
        </p:nvSpPr>
        <p:spPr>
          <a:xfrm>
            <a:off x="4572000" y="2880360"/>
            <a:ext cx="3017520" cy="1737360"/>
          </a:xfrm>
          <a:prstGeom prst="rect">
            <a:avLst/>
          </a:prstGeom>
          <a:noFill/>
          <a:ln/>
        </p:spPr>
        <p:txBody>
          <a:bodyPr wrap="square" lIns="0" tIns="0" rIns="0" bIns="0" rtlCol="0" anchor="t"/>
          <a:lstStyle/>
          <a:p>
            <a:pPr indent="0" marL="0">
              <a:lnSpc>
                <a:spcPct val="110000"/>
              </a:lnSpc>
              <a:buNone/>
            </a:pPr>
            <a:r>
              <a:rPr lang="en-US" sz="1500" dirty="0">
                <a:solidFill>
                  <a:schemeClr val="bg2"/>
                </a:solidFill>
              </a:rPr>
              <a:t>An IT generalist has maybe half an hour a day for security. Reviewing alerts oldest-first spends it on noise.</a:t>
            </a:r>
            <a:endParaRPr lang="en-US" sz="1500" dirty="0"/>
          </a:p>
        </p:txBody>
      </p:sp>
      <p:sp>
        <p:nvSpPr>
          <p:cNvPr id="14" name="Text 12"/>
          <p:cNvSpPr txBox="1"/>
          <p:nvPr/>
        </p:nvSpPr>
        <p:spPr>
          <a:xfrm>
            <a:off x="4572000" y="4526280"/>
            <a:ext cx="3017520" cy="548640"/>
          </a:xfrm>
          <a:prstGeom prst="rect">
            <a:avLst/>
          </a:prstGeom>
          <a:noFill/>
          <a:ln/>
        </p:spPr>
        <p:txBody>
          <a:bodyPr wrap="square" lIns="0" tIns="0" rIns="0" bIns="0" rtlCol="0" anchor="t"/>
          <a:lstStyle/>
          <a:p>
            <a:pPr indent="0" marL="0">
              <a:buNone/>
            </a:pPr>
            <a:r>
              <a:rPr lang="en-US" sz="1500" dirty="0">
                <a:solidFill>
                  <a:schemeClr val="accent2"/>
                </a:solidFill>
              </a:rPr>
              <a:t>The real attack waits in line.</a:t>
            </a:r>
            <a:endParaRPr lang="en-US" sz="1500" dirty="0"/>
          </a:p>
        </p:txBody>
      </p:sp>
      <p:sp>
        <p:nvSpPr>
          <p:cNvPr id="15" name="gap 3"/>
          <p:cNvSpPr/>
          <p:nvPr/>
        </p:nvSpPr>
        <p:spPr>
          <a:xfrm>
            <a:off x="8046720" y="1463040"/>
            <a:ext cx="3520440" cy="3794760"/>
          </a:xfrm>
          <a:prstGeom prst="roundRect">
            <a:avLst>
              <a:gd name="adj" fmla="val 2078"/>
            </a:avLst>
          </a:prstGeom>
          <a:solidFill>
            <a:schemeClr val="tx2"/>
          </a:solidFill>
          <a:ln w="9525">
            <a:solidFill>
              <a:srgbClr val="262C2F"/>
            </a:solidFill>
            <a:prstDash val="solid"/>
          </a:ln>
        </p:spPr>
      </p:sp>
      <p:sp>
        <p:nvSpPr>
          <p:cNvPr id="16" name="step 3"/>
          <p:cNvSpPr/>
          <p:nvPr/>
        </p:nvSpPr>
        <p:spPr>
          <a:xfrm>
            <a:off x="8321040" y="1737360"/>
            <a:ext cx="384048" cy="384048"/>
          </a:xfrm>
          <a:prstGeom prst="ellipse">
            <a:avLst/>
          </a:prstGeom>
          <a:solidFill>
            <a:schemeClr val="tx2"/>
          </a:solidFill>
          <a:ln w="12700">
            <a:solidFill>
              <a:srgbClr val="262C2F"/>
            </a:solidFill>
            <a:prstDash val="solid"/>
          </a:ln>
        </p:spPr>
      </p:sp>
      <p:sp>
        <p:nvSpPr>
          <p:cNvPr id="17" name="Text 15"/>
          <p:cNvSpPr txBox="1"/>
          <p:nvPr/>
        </p:nvSpPr>
        <p:spPr>
          <a:xfrm>
            <a:off x="8321040" y="1737360"/>
            <a:ext cx="384048" cy="384048"/>
          </a:xfrm>
          <a:prstGeom prst="rect">
            <a:avLst/>
          </a:prstGeom>
          <a:noFill/>
          <a:ln/>
        </p:spPr>
        <p:txBody>
          <a:bodyPr wrap="square" lIns="0" tIns="0" rIns="0" bIns="0" rtlCol="0" anchor="ctr"/>
          <a:lstStyle/>
          <a:p>
            <a:pPr algn="ctr" indent="0" marL="0">
              <a:buNone/>
            </a:pPr>
            <a:r>
              <a:rPr lang="en-US" sz="1400" b="1" dirty="0">
                <a:solidFill>
                  <a:schemeClr val="bg2"/>
                </a:solidFill>
              </a:rPr>
              <a:t>3</a:t>
            </a:r>
            <a:endParaRPr lang="en-US" sz="1400" dirty="0"/>
          </a:p>
        </p:txBody>
      </p:sp>
      <p:sp>
        <p:nvSpPr>
          <p:cNvPr id="18" name="Text 16"/>
          <p:cNvSpPr txBox="1"/>
          <p:nvPr/>
        </p:nvSpPr>
        <p:spPr>
          <a:xfrm>
            <a:off x="8321040" y="2331720"/>
            <a:ext cx="3017520" cy="457200"/>
          </a:xfrm>
          <a:prstGeom prst="rect">
            <a:avLst/>
          </a:prstGeom>
          <a:noFill/>
          <a:ln/>
        </p:spPr>
        <p:txBody>
          <a:bodyPr wrap="square" lIns="0" tIns="0" rIns="0" bIns="0" rtlCol="0" anchor="t"/>
          <a:lstStyle/>
          <a:p>
            <a:pPr indent="0" marL="0">
              <a:buNone/>
            </a:pPr>
            <a:r>
              <a:rPr lang="en-US" sz="2000" b="1" dirty="0">
                <a:solidFill>
                  <a:schemeClr val="bg1"/>
                </a:solidFill>
              </a:rPr>
              <a:t>Report it in time</a:t>
            </a:r>
            <a:endParaRPr lang="en-US" sz="2000" dirty="0"/>
          </a:p>
        </p:txBody>
      </p:sp>
      <p:sp>
        <p:nvSpPr>
          <p:cNvPr id="19" name="Text 17"/>
          <p:cNvSpPr txBox="1"/>
          <p:nvPr/>
        </p:nvSpPr>
        <p:spPr>
          <a:xfrm>
            <a:off x="8321040" y="2880360"/>
            <a:ext cx="3017520" cy="1737360"/>
          </a:xfrm>
          <a:prstGeom prst="rect">
            <a:avLst/>
          </a:prstGeom>
          <a:noFill/>
          <a:ln/>
        </p:spPr>
        <p:txBody>
          <a:bodyPr wrap="square" lIns="0" tIns="0" rIns="0" bIns="0" rtlCol="0" anchor="t"/>
          <a:lstStyle/>
          <a:p>
            <a:pPr indent="0" marL="0">
              <a:lnSpc>
                <a:spcPct val="110000"/>
              </a:lnSpc>
              <a:buNone/>
            </a:pPr>
            <a:r>
              <a:rPr lang="en-US" sz="1500" dirty="0">
                <a:solidFill>
                  <a:schemeClr val="bg2"/>
                </a:solidFill>
              </a:rPr>
              <a:t>The Data Privacy Act asks for the nature of the breach, the data involved, measures taken and a contact person, within 72 hours.</a:t>
            </a:r>
            <a:endParaRPr lang="en-US" sz="1500" dirty="0"/>
          </a:p>
        </p:txBody>
      </p:sp>
      <p:sp>
        <p:nvSpPr>
          <p:cNvPr id="20" name="Text 18"/>
          <p:cNvSpPr txBox="1"/>
          <p:nvPr/>
        </p:nvSpPr>
        <p:spPr>
          <a:xfrm>
            <a:off x="8321040" y="4526280"/>
            <a:ext cx="3017520" cy="548640"/>
          </a:xfrm>
          <a:prstGeom prst="rect">
            <a:avLst/>
          </a:prstGeom>
          <a:noFill/>
          <a:ln/>
        </p:spPr>
        <p:txBody>
          <a:bodyPr wrap="square" lIns="0" tIns="0" rIns="0" bIns="0" rtlCol="0" anchor="t"/>
          <a:lstStyle/>
          <a:p>
            <a:pPr indent="0" marL="0">
              <a:buNone/>
            </a:pPr>
            <a:r>
              <a:rPr lang="en-US" sz="1500" dirty="0">
                <a:solidFill>
                  <a:schemeClr val="accent2"/>
                </a:solidFill>
              </a:rPr>
              <a:t>Hours lost to piecing together logs.</a:t>
            </a:r>
            <a:endParaRPr lang="en-US" sz="1500" dirty="0"/>
          </a:p>
        </p:txBody>
      </p:sp>
      <p:sp>
        <p:nvSpPr>
          <p:cNvPr id="21" name="Text 19"/>
          <p:cNvSpPr txBox="1"/>
          <p:nvPr/>
        </p:nvSpPr>
        <p:spPr>
          <a:xfrm>
            <a:off x="548640" y="6053328"/>
            <a:ext cx="11094415" cy="292608"/>
          </a:xfrm>
          <a:prstGeom prst="rect">
            <a:avLst/>
          </a:prstGeom>
          <a:noFill/>
          <a:ln/>
        </p:spPr>
        <p:txBody>
          <a:bodyPr wrap="square" lIns="0" tIns="0" rIns="0" bIns="0" rtlCol="0" anchor="b"/>
          <a:lstStyle/>
          <a:p>
            <a:pPr indent="0" marL="0">
              <a:buNone/>
            </a:pPr>
            <a:r>
              <a:rPr lang="en-US" sz="1000" dirty="0">
                <a:solidFill>
                  <a:srgbClr val="7D8689"/>
                </a:solidFill>
              </a:rPr>
              <a:t>Sources: SANS 2025 Detection and Response Survey; NPC Circular 16-03, Section 17. Full list in docs/RESEARCH.md.</a:t>
            </a:r>
            <a:endParaRPr lang="en-US" sz="10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D8689"/>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822960"/>
          </a:xfrm>
          <a:prstGeom prst="rect">
            <a:avLst/>
          </a:prstGeom>
          <a:noFill/>
          <a:ln/>
        </p:spPr>
        <p:txBody>
          <a:bodyPr wrap="square" lIns="0" tIns="0" rIns="0" bIns="0" rtlCol="0" anchor="t"/>
          <a:lstStyle/>
          <a:p>
            <a:pPr algn="l" indent="0" marL="0">
              <a:buNone/>
            </a:pPr>
            <a:r>
              <a:rPr lang="en-US" sz="3000" b="1" dirty="0">
                <a:solidFill>
                  <a:schemeClr val="bg1"/>
                </a:solidFill>
              </a:rPr>
              <a:t>Nightwatch does the analyst's night shift in five steps</a:t>
            </a:r>
            <a:endParaRPr lang="en-US" sz="3000" dirty="0"/>
          </a:p>
        </p:txBody>
      </p:sp>
      <p:sp>
        <p:nvSpPr>
          <p:cNvPr id="3" name="step 1"/>
          <p:cNvSpPr/>
          <p:nvPr/>
        </p:nvSpPr>
        <p:spPr>
          <a:xfrm>
            <a:off x="548640" y="1600200"/>
            <a:ext cx="384048" cy="384048"/>
          </a:xfrm>
          <a:prstGeom prst="ellipse">
            <a:avLst/>
          </a:prstGeom>
          <a:solidFill>
            <a:schemeClr val="accent1"/>
          </a:solidFill>
          <a:ln w="12700">
            <a:solidFill>
              <a:schemeClr val="accent1"/>
            </a:solidFill>
            <a:prstDash val="solid"/>
          </a:ln>
        </p:spPr>
      </p:sp>
      <p:sp>
        <p:nvSpPr>
          <p:cNvPr id="4" name="Text 2"/>
          <p:cNvSpPr txBox="1"/>
          <p:nvPr/>
        </p:nvSpPr>
        <p:spPr>
          <a:xfrm>
            <a:off x="548640" y="1600200"/>
            <a:ext cx="384048" cy="384048"/>
          </a:xfrm>
          <a:prstGeom prst="rect">
            <a:avLst/>
          </a:prstGeom>
          <a:no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5" name="step link 1"/>
          <p:cNvSpPr/>
          <p:nvPr/>
        </p:nvSpPr>
        <p:spPr>
          <a:xfrm>
            <a:off x="1005840" y="1792224"/>
            <a:ext cx="1717472" cy="0"/>
          </a:xfrm>
          <a:prstGeom prst="line">
            <a:avLst/>
          </a:prstGeom>
          <a:noFill/>
          <a:ln w="12700">
            <a:solidFill>
              <a:srgbClr val="262C2F"/>
            </a:solidFill>
            <a:prstDash val="solid"/>
          </a:ln>
        </p:spPr>
      </p:sp>
      <p:sp>
        <p:nvSpPr>
          <p:cNvPr id="6" name="Text 4"/>
          <p:cNvSpPr txBox="1"/>
          <p:nvPr/>
        </p:nvSpPr>
        <p:spPr>
          <a:xfrm>
            <a:off x="548640" y="2240280"/>
            <a:ext cx="2103120" cy="457200"/>
          </a:xfrm>
          <a:prstGeom prst="rect">
            <a:avLst/>
          </a:prstGeom>
          <a:noFill/>
          <a:ln/>
        </p:spPr>
        <p:txBody>
          <a:bodyPr wrap="square" lIns="0" tIns="0" rIns="0" bIns="0" rtlCol="0" anchor="t"/>
          <a:lstStyle/>
          <a:p>
            <a:pPr indent="0" marL="0">
              <a:buNone/>
            </a:pPr>
            <a:r>
              <a:rPr lang="en-US" sz="2000" b="1" dirty="0">
                <a:solidFill>
                  <a:schemeClr val="bg1"/>
                </a:solidFill>
              </a:rPr>
              <a:t>Monitor</a:t>
            </a:r>
            <a:endParaRPr lang="en-US" sz="2000" dirty="0"/>
          </a:p>
        </p:txBody>
      </p:sp>
      <p:sp>
        <p:nvSpPr>
          <p:cNvPr id="7" name="Text 5"/>
          <p:cNvSpPr txBox="1"/>
          <p:nvPr/>
        </p:nvSpPr>
        <p:spPr>
          <a:xfrm>
            <a:off x="548640" y="2743200"/>
            <a:ext cx="2103120" cy="1828800"/>
          </a:xfrm>
          <a:prstGeom prst="rect">
            <a:avLst/>
          </a:prstGeom>
          <a:noFill/>
          <a:ln/>
        </p:spPr>
        <p:txBody>
          <a:bodyPr wrap="square" lIns="0" tIns="0" rIns="0" bIns="0" rtlCol="0" anchor="t"/>
          <a:lstStyle/>
          <a:p>
            <a:pPr indent="0" marL="0">
              <a:lnSpc>
                <a:spcPct val="110000"/>
              </a:lnSpc>
              <a:buNone/>
            </a:pPr>
            <a:r>
              <a:rPr lang="en-US" sz="1400" dirty="0">
                <a:solidFill>
                  <a:schemeClr val="bg2"/>
                </a:solidFill>
              </a:rPr>
              <a:t>Reads network flow logs (CICFlowMeter format) from a live replay or an uploaded file.</a:t>
            </a:r>
            <a:endParaRPr lang="en-US" sz="1400" dirty="0"/>
          </a:p>
        </p:txBody>
      </p:sp>
      <p:sp>
        <p:nvSpPr>
          <p:cNvPr id="8" name="step 2"/>
          <p:cNvSpPr/>
          <p:nvPr/>
        </p:nvSpPr>
        <p:spPr>
          <a:xfrm>
            <a:off x="2796464" y="1600200"/>
            <a:ext cx="384048" cy="384048"/>
          </a:xfrm>
          <a:prstGeom prst="ellipse">
            <a:avLst/>
          </a:prstGeom>
          <a:solidFill>
            <a:schemeClr val="accent1"/>
          </a:solidFill>
          <a:ln w="12700">
            <a:solidFill>
              <a:schemeClr val="accent1"/>
            </a:solidFill>
            <a:prstDash val="solid"/>
          </a:ln>
        </p:spPr>
      </p:sp>
      <p:sp>
        <p:nvSpPr>
          <p:cNvPr id="9" name="Text 7"/>
          <p:cNvSpPr txBox="1"/>
          <p:nvPr/>
        </p:nvSpPr>
        <p:spPr>
          <a:xfrm>
            <a:off x="2796464" y="1600200"/>
            <a:ext cx="384048" cy="384048"/>
          </a:xfrm>
          <a:prstGeom prst="rect">
            <a:avLst/>
          </a:prstGeom>
          <a:no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10" name="step link 2"/>
          <p:cNvSpPr/>
          <p:nvPr/>
        </p:nvSpPr>
        <p:spPr>
          <a:xfrm>
            <a:off x="3253664" y="1792224"/>
            <a:ext cx="1717472" cy="0"/>
          </a:xfrm>
          <a:prstGeom prst="line">
            <a:avLst/>
          </a:prstGeom>
          <a:noFill/>
          <a:ln w="12700">
            <a:solidFill>
              <a:srgbClr val="262C2F"/>
            </a:solidFill>
            <a:prstDash val="solid"/>
          </a:ln>
        </p:spPr>
      </p:sp>
      <p:sp>
        <p:nvSpPr>
          <p:cNvPr id="11" name="Text 9"/>
          <p:cNvSpPr txBox="1"/>
          <p:nvPr/>
        </p:nvSpPr>
        <p:spPr>
          <a:xfrm>
            <a:off x="2796464" y="2240280"/>
            <a:ext cx="2103120" cy="457200"/>
          </a:xfrm>
          <a:prstGeom prst="rect">
            <a:avLst/>
          </a:prstGeom>
          <a:noFill/>
          <a:ln/>
        </p:spPr>
        <p:txBody>
          <a:bodyPr wrap="square" lIns="0" tIns="0" rIns="0" bIns="0" rtlCol="0" anchor="t"/>
          <a:lstStyle/>
          <a:p>
            <a:pPr indent="0" marL="0">
              <a:buNone/>
            </a:pPr>
            <a:r>
              <a:rPr lang="en-US" sz="2000" b="1" dirty="0">
                <a:solidFill>
                  <a:schemeClr val="bg1"/>
                </a:solidFill>
              </a:rPr>
              <a:t>Detect</a:t>
            </a:r>
            <a:endParaRPr lang="en-US" sz="2000" dirty="0"/>
          </a:p>
        </p:txBody>
      </p:sp>
      <p:sp>
        <p:nvSpPr>
          <p:cNvPr id="12" name="Text 10"/>
          <p:cNvSpPr txBox="1"/>
          <p:nvPr/>
        </p:nvSpPr>
        <p:spPr>
          <a:xfrm>
            <a:off x="2796464" y="2743200"/>
            <a:ext cx="2103120" cy="1828800"/>
          </a:xfrm>
          <a:prstGeom prst="rect">
            <a:avLst/>
          </a:prstGeom>
          <a:noFill/>
          <a:ln/>
        </p:spPr>
        <p:txBody>
          <a:bodyPr wrap="square" lIns="0" tIns="0" rIns="0" bIns="0" rtlCol="0" anchor="t"/>
          <a:lstStyle/>
          <a:p>
            <a:pPr indent="0" marL="0">
              <a:lnSpc>
                <a:spcPct val="110000"/>
              </a:lnSpc>
              <a:buNone/>
            </a:pPr>
            <a:r>
              <a:rPr lang="en-US" sz="1400" dirty="0">
                <a:solidFill>
                  <a:schemeClr val="bg2"/>
                </a:solidFill>
              </a:rPr>
              <a:t>A model trained on corrected, real attack traffic names the attack, or says it does not recognize it.</a:t>
            </a:r>
            <a:endParaRPr lang="en-US" sz="1400" dirty="0"/>
          </a:p>
        </p:txBody>
      </p:sp>
      <p:sp>
        <p:nvSpPr>
          <p:cNvPr id="13" name="step 3"/>
          <p:cNvSpPr/>
          <p:nvPr/>
        </p:nvSpPr>
        <p:spPr>
          <a:xfrm>
            <a:off x="5044288" y="1600200"/>
            <a:ext cx="384048" cy="384048"/>
          </a:xfrm>
          <a:prstGeom prst="ellipse">
            <a:avLst/>
          </a:prstGeom>
          <a:solidFill>
            <a:schemeClr val="accent1"/>
          </a:solidFill>
          <a:ln w="12700">
            <a:solidFill>
              <a:schemeClr val="accent1"/>
            </a:solidFill>
            <a:prstDash val="solid"/>
          </a:ln>
        </p:spPr>
      </p:sp>
      <p:sp>
        <p:nvSpPr>
          <p:cNvPr id="14" name="Text 12"/>
          <p:cNvSpPr txBox="1"/>
          <p:nvPr/>
        </p:nvSpPr>
        <p:spPr>
          <a:xfrm>
            <a:off x="5044288" y="1600200"/>
            <a:ext cx="384048" cy="384048"/>
          </a:xfrm>
          <a:prstGeom prst="rect">
            <a:avLst/>
          </a:prstGeom>
          <a:no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15" name="step link 3"/>
          <p:cNvSpPr/>
          <p:nvPr/>
        </p:nvSpPr>
        <p:spPr>
          <a:xfrm>
            <a:off x="5501488" y="1792224"/>
            <a:ext cx="1717472" cy="0"/>
          </a:xfrm>
          <a:prstGeom prst="line">
            <a:avLst/>
          </a:prstGeom>
          <a:noFill/>
          <a:ln w="12700">
            <a:solidFill>
              <a:srgbClr val="262C2F"/>
            </a:solidFill>
            <a:prstDash val="solid"/>
          </a:ln>
        </p:spPr>
      </p:sp>
      <p:sp>
        <p:nvSpPr>
          <p:cNvPr id="16" name="Text 14"/>
          <p:cNvSpPr txBox="1"/>
          <p:nvPr/>
        </p:nvSpPr>
        <p:spPr>
          <a:xfrm>
            <a:off x="5044288" y="2240280"/>
            <a:ext cx="2103120" cy="457200"/>
          </a:xfrm>
          <a:prstGeom prst="rect">
            <a:avLst/>
          </a:prstGeom>
          <a:noFill/>
          <a:ln/>
        </p:spPr>
        <p:txBody>
          <a:bodyPr wrap="square" lIns="0" tIns="0" rIns="0" bIns="0" rtlCol="0" anchor="t"/>
          <a:lstStyle/>
          <a:p>
            <a:pPr indent="0" marL="0">
              <a:buNone/>
            </a:pPr>
            <a:r>
              <a:rPr lang="en-US" sz="2000" b="1" dirty="0">
                <a:solidFill>
                  <a:schemeClr val="bg1"/>
                </a:solidFill>
              </a:rPr>
              <a:t>Prioritize</a:t>
            </a:r>
            <a:endParaRPr lang="en-US" sz="2000" dirty="0"/>
          </a:p>
        </p:txBody>
      </p:sp>
      <p:sp>
        <p:nvSpPr>
          <p:cNvPr id="17" name="Text 15"/>
          <p:cNvSpPr txBox="1"/>
          <p:nvPr/>
        </p:nvSpPr>
        <p:spPr>
          <a:xfrm>
            <a:off x="5044288" y="2743200"/>
            <a:ext cx="2103120" cy="1828800"/>
          </a:xfrm>
          <a:prstGeom prst="rect">
            <a:avLst/>
          </a:prstGeom>
          <a:noFill/>
          <a:ln/>
        </p:spPr>
        <p:txBody>
          <a:bodyPr wrap="square" lIns="0" tIns="0" rIns="0" bIns="0" rtlCol="0" anchor="t"/>
          <a:lstStyle/>
          <a:p>
            <a:pPr indent="0" marL="0">
              <a:lnSpc>
                <a:spcPct val="110000"/>
              </a:lnSpc>
              <a:buNone/>
            </a:pPr>
            <a:r>
              <a:rPr lang="en-US" sz="1400" dirty="0">
                <a:solidFill>
                  <a:schemeClr val="bg2"/>
                </a:solidFill>
              </a:rPr>
              <a:t>Groups alerts into incidents and ranks them Critical, High, Medium or Low.</a:t>
            </a:r>
            <a:endParaRPr lang="en-US" sz="1400" dirty="0"/>
          </a:p>
        </p:txBody>
      </p:sp>
      <p:sp>
        <p:nvSpPr>
          <p:cNvPr id="18" name="step 4"/>
          <p:cNvSpPr/>
          <p:nvPr/>
        </p:nvSpPr>
        <p:spPr>
          <a:xfrm>
            <a:off x="7292111" y="1600200"/>
            <a:ext cx="384048" cy="384048"/>
          </a:xfrm>
          <a:prstGeom prst="ellipse">
            <a:avLst/>
          </a:prstGeom>
          <a:solidFill>
            <a:schemeClr val="accent1"/>
          </a:solidFill>
          <a:ln w="12700">
            <a:solidFill>
              <a:schemeClr val="accent1"/>
            </a:solidFill>
            <a:prstDash val="solid"/>
          </a:ln>
        </p:spPr>
      </p:sp>
      <p:sp>
        <p:nvSpPr>
          <p:cNvPr id="19" name="Text 17"/>
          <p:cNvSpPr txBox="1"/>
          <p:nvPr/>
        </p:nvSpPr>
        <p:spPr>
          <a:xfrm>
            <a:off x="7292111" y="1600200"/>
            <a:ext cx="384048" cy="384048"/>
          </a:xfrm>
          <a:prstGeom prst="rect">
            <a:avLst/>
          </a:prstGeom>
          <a:noFill/>
          <a:ln/>
        </p:spPr>
        <p:txBody>
          <a:bodyPr wrap="square" lIns="0" tIns="0" rIns="0" bIns="0" rtlCol="0" anchor="ctr"/>
          <a:lstStyle/>
          <a:p>
            <a:pPr algn="ctr" indent="0" marL="0">
              <a:buNone/>
            </a:pPr>
            <a:r>
              <a:rPr lang="en-US" sz="1400" b="1" dirty="0">
                <a:solidFill>
                  <a:schemeClr val="tx1"/>
                </a:solidFill>
              </a:rPr>
              <a:t>4</a:t>
            </a:r>
            <a:endParaRPr lang="en-US" sz="1400" dirty="0"/>
          </a:p>
        </p:txBody>
      </p:sp>
      <p:sp>
        <p:nvSpPr>
          <p:cNvPr id="20" name="step link 4"/>
          <p:cNvSpPr/>
          <p:nvPr/>
        </p:nvSpPr>
        <p:spPr>
          <a:xfrm>
            <a:off x="7749311" y="1792224"/>
            <a:ext cx="1717472" cy="0"/>
          </a:xfrm>
          <a:prstGeom prst="line">
            <a:avLst/>
          </a:prstGeom>
          <a:noFill/>
          <a:ln w="12700">
            <a:solidFill>
              <a:srgbClr val="262C2F"/>
            </a:solidFill>
            <a:prstDash val="solid"/>
          </a:ln>
        </p:spPr>
      </p:sp>
      <p:sp>
        <p:nvSpPr>
          <p:cNvPr id="21" name="Text 19"/>
          <p:cNvSpPr txBox="1"/>
          <p:nvPr/>
        </p:nvSpPr>
        <p:spPr>
          <a:xfrm>
            <a:off x="7292111" y="2240280"/>
            <a:ext cx="2103120" cy="457200"/>
          </a:xfrm>
          <a:prstGeom prst="rect">
            <a:avLst/>
          </a:prstGeom>
          <a:noFill/>
          <a:ln/>
        </p:spPr>
        <p:txBody>
          <a:bodyPr wrap="square" lIns="0" tIns="0" rIns="0" bIns="0" rtlCol="0" anchor="t"/>
          <a:lstStyle/>
          <a:p>
            <a:pPr indent="0" marL="0">
              <a:buNone/>
            </a:pPr>
            <a:r>
              <a:rPr lang="en-US" sz="2000" b="1" dirty="0">
                <a:solidFill>
                  <a:schemeClr val="bg1"/>
                </a:solidFill>
              </a:rPr>
              <a:t>Investigate</a:t>
            </a:r>
            <a:endParaRPr lang="en-US" sz="2000" dirty="0"/>
          </a:p>
        </p:txBody>
      </p:sp>
      <p:sp>
        <p:nvSpPr>
          <p:cNvPr id="22" name="Text 20"/>
          <p:cNvSpPr txBox="1"/>
          <p:nvPr/>
        </p:nvSpPr>
        <p:spPr>
          <a:xfrm>
            <a:off x="7292111" y="2743200"/>
            <a:ext cx="2103120" cy="1828800"/>
          </a:xfrm>
          <a:prstGeom prst="rect">
            <a:avLst/>
          </a:prstGeom>
          <a:noFill/>
          <a:ln/>
        </p:spPr>
        <p:txBody>
          <a:bodyPr wrap="square" lIns="0" tIns="0" rIns="0" bIns="0" rtlCol="0" anchor="t"/>
          <a:lstStyle/>
          <a:p>
            <a:pPr indent="0" marL="0">
              <a:lnSpc>
                <a:spcPct val="110000"/>
              </a:lnSpc>
              <a:buNone/>
            </a:pPr>
            <a:r>
              <a:rPr lang="en-US" sz="1400" dirty="0">
                <a:solidFill>
                  <a:schemeClr val="bg2"/>
                </a:solidFill>
              </a:rPr>
              <a:t>Explains each incident in plain words, with the MITRE ATT&amp;CK technique and the evidence.</a:t>
            </a:r>
            <a:endParaRPr lang="en-US" sz="1400" dirty="0"/>
          </a:p>
        </p:txBody>
      </p:sp>
      <p:sp>
        <p:nvSpPr>
          <p:cNvPr id="23" name="step 5"/>
          <p:cNvSpPr/>
          <p:nvPr/>
        </p:nvSpPr>
        <p:spPr>
          <a:xfrm>
            <a:off x="9539935" y="1600200"/>
            <a:ext cx="384048" cy="384048"/>
          </a:xfrm>
          <a:prstGeom prst="ellipse">
            <a:avLst/>
          </a:prstGeom>
          <a:solidFill>
            <a:schemeClr val="accent1"/>
          </a:solidFill>
          <a:ln w="12700">
            <a:solidFill>
              <a:schemeClr val="accent1"/>
            </a:solidFill>
            <a:prstDash val="solid"/>
          </a:ln>
        </p:spPr>
      </p:sp>
      <p:sp>
        <p:nvSpPr>
          <p:cNvPr id="24" name="Text 22"/>
          <p:cNvSpPr txBox="1"/>
          <p:nvPr/>
        </p:nvSpPr>
        <p:spPr>
          <a:xfrm>
            <a:off x="9539935" y="1600200"/>
            <a:ext cx="384048" cy="384048"/>
          </a:xfrm>
          <a:prstGeom prst="rect">
            <a:avLst/>
          </a:prstGeom>
          <a:noFill/>
          <a:ln/>
        </p:spPr>
        <p:txBody>
          <a:bodyPr wrap="square" lIns="0" tIns="0" rIns="0" bIns="0" rtlCol="0" anchor="ctr"/>
          <a:lstStyle/>
          <a:p>
            <a:pPr algn="ctr" indent="0" marL="0">
              <a:buNone/>
            </a:pPr>
            <a:r>
              <a:rPr lang="en-US" sz="1400" b="1" dirty="0">
                <a:solidFill>
                  <a:schemeClr val="tx1"/>
                </a:solidFill>
              </a:rPr>
              <a:t>5</a:t>
            </a:r>
            <a:endParaRPr lang="en-US" sz="1400" dirty="0"/>
          </a:p>
        </p:txBody>
      </p:sp>
      <p:sp>
        <p:nvSpPr>
          <p:cNvPr id="25" name="Text 23"/>
          <p:cNvSpPr txBox="1"/>
          <p:nvPr/>
        </p:nvSpPr>
        <p:spPr>
          <a:xfrm>
            <a:off x="9539935" y="2240280"/>
            <a:ext cx="2103120" cy="457200"/>
          </a:xfrm>
          <a:prstGeom prst="rect">
            <a:avLst/>
          </a:prstGeom>
          <a:noFill/>
          <a:ln/>
        </p:spPr>
        <p:txBody>
          <a:bodyPr wrap="square" lIns="0" tIns="0" rIns="0" bIns="0" rtlCol="0" anchor="t"/>
          <a:lstStyle/>
          <a:p>
            <a:pPr indent="0" marL="0">
              <a:buNone/>
            </a:pPr>
            <a:r>
              <a:rPr lang="en-US" sz="2000" b="1" dirty="0">
                <a:solidFill>
                  <a:schemeClr val="bg1"/>
                </a:solidFill>
              </a:rPr>
              <a:t>Report</a:t>
            </a:r>
            <a:endParaRPr lang="en-US" sz="2000" dirty="0"/>
          </a:p>
        </p:txBody>
      </p:sp>
      <p:sp>
        <p:nvSpPr>
          <p:cNvPr id="26" name="Text 24"/>
          <p:cNvSpPr txBox="1"/>
          <p:nvPr/>
        </p:nvSpPr>
        <p:spPr>
          <a:xfrm>
            <a:off x="9539935" y="2743200"/>
            <a:ext cx="2103120" cy="1828800"/>
          </a:xfrm>
          <a:prstGeom prst="rect">
            <a:avLst/>
          </a:prstGeom>
          <a:noFill/>
          <a:ln/>
        </p:spPr>
        <p:txBody>
          <a:bodyPr wrap="square" lIns="0" tIns="0" rIns="0" bIns="0" rtlCol="0" anchor="t"/>
          <a:lstStyle/>
          <a:p>
            <a:pPr indent="0" marL="0">
              <a:lnSpc>
                <a:spcPct val="110000"/>
              </a:lnSpc>
              <a:buNone/>
            </a:pPr>
            <a:r>
              <a:rPr lang="en-US" sz="1400" dirty="0">
                <a:solidFill>
                  <a:schemeClr val="bg2"/>
                </a:solidFill>
              </a:rPr>
              <a:t>Turns the analyst's decisions into a draft breach report and counts down its deadline.</a:t>
            </a:r>
            <a:endParaRPr lang="en-US" sz="1400" dirty="0"/>
          </a:p>
        </p:txBody>
      </p:sp>
      <p:sp>
        <p:nvSpPr>
          <p:cNvPr id="27" name="promise"/>
          <p:cNvSpPr/>
          <p:nvPr/>
        </p:nvSpPr>
        <p:spPr>
          <a:xfrm>
            <a:off x="548640" y="4709160"/>
            <a:ext cx="11094415" cy="1143000"/>
          </a:xfrm>
          <a:prstGeom prst="roundRect">
            <a:avLst>
              <a:gd name="adj" fmla="val 6400"/>
            </a:avLst>
          </a:prstGeom>
          <a:solidFill>
            <a:schemeClr val="tx2"/>
          </a:solidFill>
          <a:ln w="9525">
            <a:solidFill>
              <a:srgbClr val="262C2F"/>
            </a:solidFill>
            <a:prstDash val="solid"/>
          </a:ln>
        </p:spPr>
      </p:sp>
      <p:sp>
        <p:nvSpPr>
          <p:cNvPr id="28" name="Text 26"/>
          <p:cNvSpPr txBox="1"/>
          <p:nvPr/>
        </p:nvSpPr>
        <p:spPr>
          <a:xfrm>
            <a:off x="822960" y="4892040"/>
            <a:ext cx="10545775" cy="822960"/>
          </a:xfrm>
          <a:prstGeom prst="rect">
            <a:avLst/>
          </a:prstGeom>
          <a:noFill/>
          <a:ln/>
        </p:spPr>
        <p:txBody>
          <a:bodyPr wrap="square" lIns="0" tIns="0" rIns="0" bIns="0" rtlCol="0" anchor="ctr"/>
          <a:lstStyle/>
          <a:p>
            <a:pPr indent="0" marL="0">
              <a:buNone/>
            </a:pPr>
            <a:r>
              <a:rPr lang="en-US" sz="1600" dirty="0">
                <a:solidFill>
                  <a:schemeClr val="bg1"/>
                </a:solidFill>
              </a:rPr>
              <a:t>Nightwatch never blocks traffic on its own. It tells a person what happened, how sure it is, and what to do first; the person decides.</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D8689"/>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822960"/>
          </a:xfrm>
          <a:prstGeom prst="rect">
            <a:avLst/>
          </a:prstGeom>
          <a:noFill/>
          <a:ln/>
        </p:spPr>
        <p:txBody>
          <a:bodyPr wrap="square" lIns="0" tIns="0" rIns="0" bIns="0" rtlCol="0" anchor="t"/>
          <a:lstStyle/>
          <a:p>
            <a:pPr algn="l" indent="0" marL="0">
              <a:buNone/>
            </a:pPr>
            <a:r>
              <a:rPr lang="en-US" sz="3000" b="1" dirty="0">
                <a:solidFill>
                  <a:schemeClr val="bg1"/>
                </a:solidFill>
              </a:rPr>
              <a:t>The console: real attacks rise to the top</a:t>
            </a:r>
            <a:endParaRPr lang="en-US" sz="3000" dirty="0"/>
          </a:p>
        </p:txBody>
      </p:sp>
      <p:sp>
        <p:nvSpPr>
          <p:cNvPr id="3" name="Nightwatch security console during a Friday replay frame"/>
          <p:cNvSpPr/>
          <p:nvPr/>
        </p:nvSpPr>
        <p:spPr>
          <a:xfrm>
            <a:off x="512064" y="1335024"/>
            <a:ext cx="7022592" cy="4416552"/>
          </a:xfrm>
          <a:prstGeom prst="rect">
            <a:avLst/>
          </a:prstGeom>
          <a:solidFill>
            <a:schemeClr val="tx2"/>
          </a:solidFill>
          <a:ln w="9525">
            <a:solidFill>
              <a:srgbClr val="262C2F"/>
            </a:solidFill>
            <a:prstDash val="solid"/>
          </a:ln>
        </p:spPr>
      </p:sp>
      <p:pic>
        <p:nvPicPr>
          <p:cNvPr id="4" name="Nightwatch security console during a Friday replay" descr="Nightwatch security console during a Friday replay">    </p:cNvPr>
          <p:cNvPicPr>
            <a:picLocks noChangeAspect="1"/>
          </p:cNvPicPr>
          <p:nvPr/>
        </p:nvPicPr>
        <p:blipFill>
          <a:blip r:embed="rId1"/>
          <a:stretch>
            <a:fillRect/>
          </a:stretch>
        </p:blipFill>
        <p:spPr>
          <a:xfrm>
            <a:off x="548640" y="1371600"/>
            <a:ext cx="6949440" cy="4343400"/>
          </a:xfrm>
          <a:prstGeom prst="rect">
            <a:avLst/>
          </a:prstGeom>
        </p:spPr>
      </p:pic>
      <p:sp>
        <p:nvSpPr>
          <p:cNvPr id="5" name="Text 2"/>
          <p:cNvSpPr txBox="1"/>
          <p:nvPr/>
        </p:nvSpPr>
        <p:spPr>
          <a:xfrm>
            <a:off x="7863840" y="1371600"/>
            <a:ext cx="3749040" cy="411480"/>
          </a:xfrm>
          <a:prstGeom prst="rect">
            <a:avLst/>
          </a:prstGeom>
          <a:noFill/>
          <a:ln/>
        </p:spPr>
        <p:txBody>
          <a:bodyPr wrap="square" lIns="0" tIns="0" rIns="0" bIns="0" rtlCol="0" anchor="t"/>
          <a:lstStyle/>
          <a:p>
            <a:pPr indent="0" marL="0">
              <a:buNone/>
            </a:pPr>
            <a:r>
              <a:rPr lang="en-US" sz="1800" b="1" dirty="0">
                <a:solidFill>
                  <a:schemeClr val="accent1"/>
                </a:solidFill>
              </a:rPr>
              <a:t>Live scoring</a:t>
            </a:r>
            <a:endParaRPr lang="en-US" sz="1800" dirty="0"/>
          </a:p>
        </p:txBody>
      </p:sp>
      <p:sp>
        <p:nvSpPr>
          <p:cNvPr id="6" name="Text 3"/>
          <p:cNvSpPr txBox="1"/>
          <p:nvPr/>
        </p:nvSpPr>
        <p:spPr>
          <a:xfrm>
            <a:off x="7863840" y="1810512"/>
            <a:ext cx="3749040" cy="960120"/>
          </a:xfrm>
          <a:prstGeom prst="rect">
            <a:avLst/>
          </a:prstGeom>
          <a:noFill/>
          <a:ln/>
        </p:spPr>
        <p:txBody>
          <a:bodyPr wrap="square" lIns="0" tIns="0" rIns="0" bIns="0" rtlCol="0" anchor="t"/>
          <a:lstStyle/>
          <a:p>
            <a:pPr indent="0" marL="0">
              <a:lnSpc>
                <a:spcPct val="110000"/>
              </a:lnSpc>
              <a:buNone/>
            </a:pPr>
            <a:r>
              <a:rPr lang="en-US" sz="1400" dirty="0">
                <a:solidFill>
                  <a:schemeClr val="bg2"/>
                </a:solidFill>
              </a:rPr>
              <a:t>Each connection is scored as it streams in. The replay is held-out traffic the model never trained on.</a:t>
            </a:r>
            <a:endParaRPr lang="en-US" sz="1400" dirty="0"/>
          </a:p>
        </p:txBody>
      </p:sp>
      <p:sp>
        <p:nvSpPr>
          <p:cNvPr id="7" name="Text 4"/>
          <p:cNvSpPr txBox="1"/>
          <p:nvPr/>
        </p:nvSpPr>
        <p:spPr>
          <a:xfrm>
            <a:off x="7863840" y="2834640"/>
            <a:ext cx="3749040" cy="411480"/>
          </a:xfrm>
          <a:prstGeom prst="rect">
            <a:avLst/>
          </a:prstGeom>
          <a:noFill/>
          <a:ln/>
        </p:spPr>
        <p:txBody>
          <a:bodyPr wrap="square" lIns="0" tIns="0" rIns="0" bIns="0" rtlCol="0" anchor="t"/>
          <a:lstStyle/>
          <a:p>
            <a:pPr indent="0" marL="0">
              <a:buNone/>
            </a:pPr>
            <a:r>
              <a:rPr lang="en-US" sz="1800" b="1" dirty="0">
                <a:solidFill>
                  <a:schemeClr val="accent1"/>
                </a:solidFill>
              </a:rPr>
              <a:t>Severity first</a:t>
            </a:r>
            <a:endParaRPr lang="en-US" sz="1800" dirty="0"/>
          </a:p>
        </p:txBody>
      </p:sp>
      <p:sp>
        <p:nvSpPr>
          <p:cNvPr id="8" name="Text 5"/>
          <p:cNvSpPr txBox="1"/>
          <p:nvPr/>
        </p:nvSpPr>
        <p:spPr>
          <a:xfrm>
            <a:off x="7863840" y="3273552"/>
            <a:ext cx="3749040" cy="960120"/>
          </a:xfrm>
          <a:prstGeom prst="rect">
            <a:avLst/>
          </a:prstGeom>
          <a:noFill/>
          <a:ln/>
        </p:spPr>
        <p:txBody>
          <a:bodyPr wrap="square" lIns="0" tIns="0" rIns="0" bIns="0" rtlCol="0" anchor="t"/>
          <a:lstStyle/>
          <a:p>
            <a:pPr indent="0" marL="0">
              <a:lnSpc>
                <a:spcPct val="110000"/>
              </a:lnSpc>
              <a:buNone/>
            </a:pPr>
            <a:r>
              <a:rPr lang="en-US" sz="1400" dirty="0">
                <a:solidFill>
                  <a:schemeClr val="bg2"/>
                </a:solidFill>
              </a:rPr>
              <a:t>Botnet command-and-control traffic is Critical and sorts above everything else.</a:t>
            </a:r>
            <a:endParaRPr lang="en-US" sz="1400" dirty="0"/>
          </a:p>
        </p:txBody>
      </p:sp>
      <p:sp>
        <p:nvSpPr>
          <p:cNvPr id="9" name="Text 6"/>
          <p:cNvSpPr txBox="1"/>
          <p:nvPr/>
        </p:nvSpPr>
        <p:spPr>
          <a:xfrm>
            <a:off x="7863840" y="4297680"/>
            <a:ext cx="3749040" cy="411480"/>
          </a:xfrm>
          <a:prstGeom prst="rect">
            <a:avLst/>
          </a:prstGeom>
          <a:noFill/>
          <a:ln/>
        </p:spPr>
        <p:txBody>
          <a:bodyPr wrap="square" lIns="0" tIns="0" rIns="0" bIns="0" rtlCol="0" anchor="t"/>
          <a:lstStyle/>
          <a:p>
            <a:pPr indent="0" marL="0">
              <a:buNone/>
            </a:pPr>
            <a:r>
              <a:rPr lang="en-US" sz="1800" b="1" dirty="0">
                <a:solidFill>
                  <a:schemeClr val="accent1"/>
                </a:solidFill>
              </a:rPr>
              <a:t>Your time</a:t>
            </a:r>
            <a:endParaRPr lang="en-US" sz="1800" dirty="0"/>
          </a:p>
        </p:txBody>
      </p:sp>
      <p:sp>
        <p:nvSpPr>
          <p:cNvPr id="10" name="Text 7"/>
          <p:cNvSpPr txBox="1"/>
          <p:nvPr/>
        </p:nvSpPr>
        <p:spPr>
          <a:xfrm>
            <a:off x="7863840" y="4736592"/>
            <a:ext cx="3749040" cy="960120"/>
          </a:xfrm>
          <a:prstGeom prst="rect">
            <a:avLst/>
          </a:prstGeom>
          <a:noFill/>
          <a:ln/>
        </p:spPr>
        <p:txBody>
          <a:bodyPr wrap="square" lIns="0" tIns="0" rIns="0" bIns="0" rtlCol="0" anchor="t"/>
          <a:lstStyle/>
          <a:p>
            <a:pPr indent="0" marL="0">
              <a:lnSpc>
                <a:spcPct val="110000"/>
              </a:lnSpc>
              <a:buNone/>
            </a:pPr>
            <a:r>
              <a:rPr lang="en-US" sz="1400" dirty="0">
                <a:solidFill>
                  <a:schemeClr val="bg2"/>
                </a:solidFill>
              </a:rPr>
              <a:t>The capacity slider shows which incidents fit in the time you have, against oldest-first.</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D8689"/>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822960"/>
          </a:xfrm>
          <a:prstGeom prst="rect">
            <a:avLst/>
          </a:prstGeom>
          <a:noFill/>
          <a:ln/>
        </p:spPr>
        <p:txBody>
          <a:bodyPr wrap="square" lIns="0" tIns="0" rIns="0" bIns="0" rtlCol="0" anchor="t"/>
          <a:lstStyle/>
          <a:p>
            <a:pPr algn="l" indent="0" marL="0">
              <a:buNone/>
            </a:pPr>
            <a:r>
              <a:rPr lang="en-US" sz="3000" b="1" dirty="0">
                <a:solidFill>
                  <a:schemeClr val="bg1"/>
                </a:solidFill>
              </a:rPr>
              <a:t>From one click to a breach report draft</a:t>
            </a:r>
            <a:endParaRPr lang="en-US" sz="3000" dirty="0"/>
          </a:p>
        </p:txBody>
      </p:sp>
      <p:sp>
        <p:nvSpPr>
          <p:cNvPr id="3" name="Investigation panel for a Critical botnet incident frame"/>
          <p:cNvSpPr/>
          <p:nvPr/>
        </p:nvSpPr>
        <p:spPr>
          <a:xfrm>
            <a:off x="512064" y="1335024"/>
            <a:ext cx="5468112" cy="3447288"/>
          </a:xfrm>
          <a:prstGeom prst="rect">
            <a:avLst/>
          </a:prstGeom>
          <a:solidFill>
            <a:schemeClr val="tx2"/>
          </a:solidFill>
          <a:ln w="9525">
            <a:solidFill>
              <a:srgbClr val="262C2F"/>
            </a:solidFill>
            <a:prstDash val="solid"/>
          </a:ln>
        </p:spPr>
      </p:sp>
      <p:pic>
        <p:nvPicPr>
          <p:cNvPr id="4" name="Investigation panel for a Critical botnet incident" descr="Investigation panel for a Critical botnet incident">    </p:cNvPr>
          <p:cNvPicPr>
            <a:picLocks noChangeAspect="1"/>
          </p:cNvPicPr>
          <p:nvPr/>
        </p:nvPicPr>
        <p:blipFill>
          <a:blip r:embed="rId1"/>
          <a:stretch>
            <a:fillRect/>
          </a:stretch>
        </p:blipFill>
        <p:spPr>
          <a:xfrm>
            <a:off x="548640" y="1371600"/>
            <a:ext cx="5394960" cy="3374136"/>
          </a:xfrm>
          <a:prstGeom prst="rect">
            <a:avLst/>
          </a:prstGeom>
        </p:spPr>
      </p:pic>
      <p:sp>
        <p:nvSpPr>
          <p:cNvPr id="5" name="Draft incident report with the 72-hour deadline frame"/>
          <p:cNvSpPr/>
          <p:nvPr/>
        </p:nvSpPr>
        <p:spPr>
          <a:xfrm>
            <a:off x="6181344" y="1335024"/>
            <a:ext cx="5468112" cy="3447288"/>
          </a:xfrm>
          <a:prstGeom prst="rect">
            <a:avLst/>
          </a:prstGeom>
          <a:solidFill>
            <a:schemeClr val="tx2"/>
          </a:solidFill>
          <a:ln w="9525">
            <a:solidFill>
              <a:srgbClr val="262C2F"/>
            </a:solidFill>
            <a:prstDash val="solid"/>
          </a:ln>
        </p:spPr>
      </p:sp>
      <p:pic>
        <p:nvPicPr>
          <p:cNvPr id="6" name="Draft incident report with the 72-hour deadline" descr="Draft incident report with the 72-hour deadline">    </p:cNvPr>
          <p:cNvPicPr>
            <a:picLocks noChangeAspect="1"/>
          </p:cNvPicPr>
          <p:nvPr/>
        </p:nvPicPr>
        <p:blipFill>
          <a:blip r:embed="rId2"/>
          <a:stretch>
            <a:fillRect/>
          </a:stretch>
        </p:blipFill>
        <p:spPr>
          <a:xfrm>
            <a:off x="6217920" y="1371600"/>
            <a:ext cx="5394960" cy="3374136"/>
          </a:xfrm>
          <a:prstGeom prst="rect">
            <a:avLst/>
          </a:prstGeom>
        </p:spPr>
      </p:pic>
      <p:sp>
        <p:nvSpPr>
          <p:cNvPr id="7" name="Text 3"/>
          <p:cNvSpPr txBox="1"/>
          <p:nvPr/>
        </p:nvSpPr>
        <p:spPr>
          <a:xfrm>
            <a:off x="548640" y="4937760"/>
            <a:ext cx="5394960" cy="365760"/>
          </a:xfrm>
          <a:prstGeom prst="rect">
            <a:avLst/>
          </a:prstGeom>
          <a:noFill/>
          <a:ln/>
        </p:spPr>
        <p:txBody>
          <a:bodyPr wrap="square" lIns="0" tIns="0" rIns="0" bIns="0" rtlCol="0" anchor="t"/>
          <a:lstStyle/>
          <a:p>
            <a:pPr indent="0" marL="0">
              <a:buNone/>
            </a:pPr>
            <a:r>
              <a:rPr lang="en-US" sz="1800" b="1" dirty="0">
                <a:solidFill>
                  <a:schemeClr val="accent1"/>
                </a:solidFill>
              </a:rPr>
              <a:t>Investigate</a:t>
            </a:r>
            <a:endParaRPr lang="en-US" sz="1800" dirty="0"/>
          </a:p>
        </p:txBody>
      </p:sp>
      <p:sp>
        <p:nvSpPr>
          <p:cNvPr id="8" name="Text 4"/>
          <p:cNvSpPr txBox="1"/>
          <p:nvPr/>
        </p:nvSpPr>
        <p:spPr>
          <a:xfrm>
            <a:off x="548640" y="5321808"/>
            <a:ext cx="5394960" cy="731520"/>
          </a:xfrm>
          <a:prstGeom prst="rect">
            <a:avLst/>
          </a:prstGeom>
          <a:noFill/>
          <a:ln/>
        </p:spPr>
        <p:txBody>
          <a:bodyPr wrap="square" lIns="0" tIns="0" rIns="0" bIns="0" rtlCol="0" anchor="t"/>
          <a:lstStyle/>
          <a:p>
            <a:pPr indent="0" marL="0">
              <a:buNone/>
            </a:pPr>
            <a:r>
              <a:rPr lang="en-US" sz="1400" dirty="0">
                <a:solidFill>
                  <a:schemeClr val="bg2"/>
                </a:solidFill>
              </a:rPr>
              <a:t>What happened in plain words, MITRE ATT&amp;CK T1071, the model's evidence with an innocent explanation beside each signal, and the first response steps.</a:t>
            </a:r>
            <a:endParaRPr lang="en-US" sz="1400" dirty="0"/>
          </a:p>
        </p:txBody>
      </p:sp>
      <p:sp>
        <p:nvSpPr>
          <p:cNvPr id="9" name="Text 5"/>
          <p:cNvSpPr txBox="1"/>
          <p:nvPr/>
        </p:nvSpPr>
        <p:spPr>
          <a:xfrm>
            <a:off x="6217920" y="4937760"/>
            <a:ext cx="5394960" cy="365760"/>
          </a:xfrm>
          <a:prstGeom prst="rect">
            <a:avLst/>
          </a:prstGeom>
          <a:noFill/>
          <a:ln/>
        </p:spPr>
        <p:txBody>
          <a:bodyPr wrap="square" lIns="0" tIns="0" rIns="0" bIns="0" rtlCol="0" anchor="t"/>
          <a:lstStyle/>
          <a:p>
            <a:pPr indent="0" marL="0">
              <a:buNone/>
            </a:pPr>
            <a:r>
              <a:rPr lang="en-US" sz="1800" b="1" dirty="0">
                <a:solidFill>
                  <a:schemeClr val="accent1"/>
                </a:solidFill>
              </a:rPr>
              <a:t>Report</a:t>
            </a:r>
            <a:endParaRPr lang="en-US" sz="1800" dirty="0"/>
          </a:p>
        </p:txBody>
      </p:sp>
      <p:sp>
        <p:nvSpPr>
          <p:cNvPr id="10" name="Text 6"/>
          <p:cNvSpPr txBox="1"/>
          <p:nvPr/>
        </p:nvSpPr>
        <p:spPr>
          <a:xfrm>
            <a:off x="6217920" y="5321808"/>
            <a:ext cx="5394960" cy="731520"/>
          </a:xfrm>
          <a:prstGeom prst="rect">
            <a:avLst/>
          </a:prstGeom>
          <a:noFill/>
          <a:ln/>
        </p:spPr>
        <p:txBody>
          <a:bodyPr wrap="square" lIns="0" tIns="0" rIns="0" bIns="0" rtlCol="0" anchor="t"/>
          <a:lstStyle/>
          <a:p>
            <a:pPr indent="0" marL="0">
              <a:buNone/>
            </a:pPr>
            <a:r>
              <a:rPr lang="en-US" sz="1400" dirty="0">
                <a:solidFill>
                  <a:schemeClr val="bg2"/>
                </a:solidFill>
              </a:rPr>
              <a:t>Confirmed incidents become a draft with the NPC's four required fields, a timeline, affected hosts and the deadline. Marked as a draft for the Data Protection Officer.</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D8689"/>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822960"/>
          </a:xfrm>
          <a:prstGeom prst="rect">
            <a:avLst/>
          </a:prstGeom>
          <a:noFill/>
          <a:ln/>
        </p:spPr>
        <p:txBody>
          <a:bodyPr wrap="square" lIns="0" tIns="0" rIns="0" bIns="0" rtlCol="0" anchor="t"/>
          <a:lstStyle/>
          <a:p>
            <a:pPr algn="l" indent="0" marL="0">
              <a:buNone/>
            </a:pPr>
            <a:r>
              <a:rPr lang="en-US" sz="3000" b="1" dirty="0">
                <a:solidFill>
                  <a:schemeClr val="bg1"/>
                </a:solidFill>
              </a:rPr>
              <a:t>Why 99.9% accuracy proves almost nothing</a:t>
            </a:r>
            <a:endParaRPr lang="en-US" sz="3000" dirty="0"/>
          </a:p>
        </p:txBody>
      </p:sp>
      <p:sp>
        <p:nvSpPr>
          <p:cNvPr id="3" name="Text 1"/>
          <p:cNvSpPr txBox="1"/>
          <p:nvPr/>
        </p:nvSpPr>
        <p:spPr>
          <a:xfrm>
            <a:off x="548640" y="1371600"/>
            <a:ext cx="5120640" cy="1645920"/>
          </a:xfrm>
          <a:prstGeom prst="rect">
            <a:avLst/>
          </a:prstGeom>
          <a:noFill/>
          <a:ln/>
        </p:spPr>
        <p:txBody>
          <a:bodyPr wrap="square" lIns="0" tIns="0" rIns="0" bIns="0" rtlCol="0" anchor="t"/>
          <a:lstStyle/>
          <a:p>
            <a:pPr indent="0" marL="0">
              <a:lnSpc>
                <a:spcPct val="115000"/>
              </a:lnSpc>
              <a:buNone/>
            </a:pPr>
            <a:r>
              <a:rPr lang="en-US" sz="1600" dirty="0">
                <a:solidFill>
                  <a:schemeClr val="bg2"/>
                </a:solidFill>
              </a:rPr>
              <a:t>Our own model scores 99.99% accuracy on a random split. That number is mostly normal traffic being called normal. The question that matters is how well it catches each kind of attack on traffic from later in time.</a:t>
            </a:r>
            <a:endParaRPr lang="en-US" sz="1600" dirty="0"/>
          </a:p>
        </p:txBody>
      </p:sp>
      <p:sp>
        <p:nvSpPr>
          <p:cNvPr id="4" name="Text 2"/>
          <p:cNvSpPr txBox="1"/>
          <p:nvPr/>
        </p:nvSpPr>
        <p:spPr>
          <a:xfrm>
            <a:off x="548640" y="3063240"/>
            <a:ext cx="1737360" cy="548640"/>
          </a:xfrm>
          <a:prstGeom prst="rect">
            <a:avLst/>
          </a:prstGeom>
          <a:noFill/>
          <a:ln/>
        </p:spPr>
        <p:txBody>
          <a:bodyPr wrap="square" lIns="0" tIns="0" rIns="0" bIns="0" rtlCol="0" anchor="t"/>
          <a:lstStyle/>
          <a:p>
            <a:pPr indent="0" marL="0">
              <a:buNone/>
            </a:pPr>
            <a:r>
              <a:rPr lang="en-US" sz="2800" b="1" dirty="0">
                <a:solidFill>
                  <a:schemeClr val="accent2"/>
                </a:solidFill>
              </a:rPr>
              <a:t>&gt;25%</a:t>
            </a:r>
            <a:endParaRPr lang="en-US" sz="2800" dirty="0"/>
          </a:p>
        </p:txBody>
      </p:sp>
      <p:sp>
        <p:nvSpPr>
          <p:cNvPr id="5" name="Text 3"/>
          <p:cNvSpPr txBox="1"/>
          <p:nvPr/>
        </p:nvSpPr>
        <p:spPr>
          <a:xfrm>
            <a:off x="2377440" y="3081528"/>
            <a:ext cx="3291840" cy="1097280"/>
          </a:xfrm>
          <a:prstGeom prst="rect">
            <a:avLst/>
          </a:prstGeom>
          <a:noFill/>
          <a:ln/>
        </p:spPr>
        <p:txBody>
          <a:bodyPr wrap="square" lIns="0" tIns="0" rIns="0" bIns="0" rtlCol="0" anchor="t"/>
          <a:lstStyle/>
          <a:p>
            <a:pPr indent="0" marL="0">
              <a:buNone/>
            </a:pPr>
            <a:r>
              <a:rPr lang="en-US" sz="1400" dirty="0">
                <a:solidFill>
                  <a:schemeClr val="bg2"/>
                </a:solidFill>
              </a:rPr>
              <a:t>of flows in the original CIC-IDS2017 were mislabeled or broken. We use the corrected release.</a:t>
            </a:r>
            <a:endParaRPr lang="en-US" sz="1400" dirty="0"/>
          </a:p>
        </p:txBody>
      </p:sp>
      <p:sp>
        <p:nvSpPr>
          <p:cNvPr id="6" name="Text 4"/>
          <p:cNvSpPr txBox="1"/>
          <p:nvPr/>
        </p:nvSpPr>
        <p:spPr>
          <a:xfrm>
            <a:off x="548640" y="4050792"/>
            <a:ext cx="1737360" cy="548640"/>
          </a:xfrm>
          <a:prstGeom prst="rect">
            <a:avLst/>
          </a:prstGeom>
          <a:noFill/>
          <a:ln/>
        </p:spPr>
        <p:txBody>
          <a:bodyPr wrap="square" lIns="0" tIns="0" rIns="0" bIns="0" rtlCol="0" anchor="t"/>
          <a:lstStyle/>
          <a:p>
            <a:pPr indent="0" marL="0">
              <a:buNone/>
            </a:pPr>
            <a:r>
              <a:rPr lang="en-US" sz="2800" b="1" dirty="0">
                <a:solidFill>
                  <a:schemeClr val="accent2"/>
                </a:solidFill>
              </a:rPr>
              <a:t>30 of 30</a:t>
            </a:r>
            <a:endParaRPr lang="en-US" sz="2800" dirty="0"/>
          </a:p>
        </p:txBody>
      </p:sp>
      <p:sp>
        <p:nvSpPr>
          <p:cNvPr id="7" name="Text 5"/>
          <p:cNvSpPr txBox="1"/>
          <p:nvPr/>
        </p:nvSpPr>
        <p:spPr>
          <a:xfrm>
            <a:off x="2377440" y="4069080"/>
            <a:ext cx="3291840" cy="1097280"/>
          </a:xfrm>
          <a:prstGeom prst="rect">
            <a:avLst/>
          </a:prstGeom>
          <a:noFill/>
          <a:ln/>
        </p:spPr>
        <p:txBody>
          <a:bodyPr wrap="square" lIns="0" tIns="0" rIns="0" bIns="0" rtlCol="0" anchor="t"/>
          <a:lstStyle/>
          <a:p>
            <a:pPr indent="0" marL="0">
              <a:buNone/>
            </a:pPr>
            <a:r>
              <a:rPr lang="en-US" sz="1400" dirty="0">
                <a:solidFill>
                  <a:schemeClr val="bg2"/>
                </a:solidFill>
              </a:rPr>
              <a:t>top security ML papers had at least three evaluation pitfalls. We check ourselves against all ten.</a:t>
            </a:r>
            <a:endParaRPr lang="en-US" sz="1400" dirty="0"/>
          </a:p>
        </p:txBody>
      </p:sp>
      <p:sp>
        <p:nvSpPr>
          <p:cNvPr id="8" name="Text 6"/>
          <p:cNvSpPr txBox="1"/>
          <p:nvPr/>
        </p:nvSpPr>
        <p:spPr>
          <a:xfrm>
            <a:off x="548640" y="5038344"/>
            <a:ext cx="1737360" cy="548640"/>
          </a:xfrm>
          <a:prstGeom prst="rect">
            <a:avLst/>
          </a:prstGeom>
          <a:noFill/>
          <a:ln/>
        </p:spPr>
        <p:txBody>
          <a:bodyPr wrap="square" lIns="0" tIns="0" rIns="0" bIns="0" rtlCol="0" anchor="t"/>
          <a:lstStyle/>
          <a:p>
            <a:pPr indent="0" marL="0">
              <a:buNone/>
            </a:pPr>
            <a:r>
              <a:rPr lang="en-US" sz="2800" b="1" dirty="0">
                <a:solidFill>
                  <a:schemeClr val="accent2"/>
                </a:solidFill>
              </a:rPr>
              <a:t>86.8%</a:t>
            </a:r>
            <a:endParaRPr lang="en-US" sz="2800" dirty="0"/>
          </a:p>
        </p:txBody>
      </p:sp>
      <p:sp>
        <p:nvSpPr>
          <p:cNvPr id="9" name="Text 7"/>
          <p:cNvSpPr txBox="1"/>
          <p:nvPr/>
        </p:nvSpPr>
        <p:spPr>
          <a:xfrm>
            <a:off x="2377440" y="5056632"/>
            <a:ext cx="3291840" cy="1097280"/>
          </a:xfrm>
          <a:prstGeom prst="rect">
            <a:avLst/>
          </a:prstGeom>
          <a:noFill/>
          <a:ln/>
        </p:spPr>
        <p:txBody>
          <a:bodyPr wrap="square" lIns="0" tIns="0" rIns="0" bIns="0" rtlCol="0" anchor="t"/>
          <a:lstStyle/>
          <a:p>
            <a:pPr indent="0" marL="0">
              <a:buNone/>
            </a:pPr>
            <a:r>
              <a:rPr lang="en-US" sz="1400" dirty="0">
                <a:solidFill>
                  <a:schemeClr val="bg2"/>
                </a:solidFill>
              </a:rPr>
              <a:t>macro-F1 with port and protocol removed. It reads behavior, not port numbers.</a:t>
            </a:r>
            <a:endParaRPr lang="en-US" sz="1400" dirty="0"/>
          </a:p>
        </p:txBody>
      </p:sp>
      <p:graphicFrame>
        <p:nvGraphicFramePr>
          <p:cNvPr id="10" name="Chart 0" descr=""/>
          <p:cNvGraphicFramePr/>
          <p:nvPr/>
        </p:nvGraphicFramePr>
        <p:xfrm>
          <a:off x="6172200" y="1325880"/>
          <a:ext cx="5440680" cy="4480560"/>
        </p:xfrm>
        <a:graphic xmlns:a="http://schemas.openxmlformats.org/drawingml/2006/main">
          <a:graphicData uri="http://schemas.openxmlformats.org/drawingml/2006/chart">
            <c:chart xmlns:c="http://schemas.openxmlformats.org/drawingml/2006/chart" r:id="rId1"/>
          </a:graphicData>
        </a:graphic>
      </p:graphicFrame>
      <p:sp>
        <p:nvSpPr>
          <p:cNvPr id="11" name="Text 8"/>
          <p:cNvSpPr txBox="1"/>
          <p:nvPr/>
        </p:nvSpPr>
        <p:spPr>
          <a:xfrm>
            <a:off x="548640" y="6053328"/>
            <a:ext cx="11094415" cy="292608"/>
          </a:xfrm>
          <a:prstGeom prst="rect">
            <a:avLst/>
          </a:prstGeom>
          <a:noFill/>
          <a:ln/>
        </p:spPr>
        <p:txBody>
          <a:bodyPr wrap="square" lIns="0" tIns="0" rIns="0" bIns="0" rtlCol="0" anchor="b"/>
          <a:lstStyle/>
          <a:p>
            <a:pPr indent="0" marL="0">
              <a:buNone/>
            </a:pPr>
            <a:r>
              <a:rPr lang="en-US" sz="1000" dirty="0">
                <a:solidFill>
                  <a:srgbClr val="7D8689"/>
                </a:solidFill>
              </a:rPr>
              <a:t>Sources: Engelen et al., IEEE SPW 2021; Liu et al., IEEE CNS 2022; Arp et al., USENIX Security 2022. Numbers: ml/reports/illusion.json, no_port.json.</a:t>
            </a:r>
            <a:endParaRPr lang="en-US" sz="10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D8689"/>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822960"/>
          </a:xfrm>
          <a:prstGeom prst="rect">
            <a:avLst/>
          </a:prstGeom>
          <a:noFill/>
          <a:ln/>
        </p:spPr>
        <p:txBody>
          <a:bodyPr wrap="square" lIns="0" tIns="0" rIns="0" bIns="0" rtlCol="0" anchor="t"/>
          <a:lstStyle/>
          <a:p>
            <a:pPr algn="l" indent="0" marL="0">
              <a:buNone/>
            </a:pPr>
            <a:r>
              <a:rPr lang="en-US" sz="3000" b="1" dirty="0">
                <a:solidFill>
                  <a:schemeClr val="bg1"/>
                </a:solidFill>
              </a:rPr>
              <a:t>Rare attacks get a fair vote</a:t>
            </a:r>
            <a:endParaRPr lang="en-US" sz="3000" dirty="0"/>
          </a:p>
        </p:txBody>
      </p:sp>
      <p:graphicFrame>
        <p:nvGraphicFramePr>
          <p:cNvPr id="3" name="Chart 0" descr=""/>
          <p:cNvGraphicFramePr/>
          <p:nvPr/>
        </p:nvGraphicFramePr>
        <p:xfrm>
          <a:off x="548640" y="1325880"/>
          <a:ext cx="5120640" cy="448056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6172200" y="1371600"/>
            <a:ext cx="5440680" cy="365760"/>
          </a:xfrm>
          <a:prstGeom prst="rect">
            <a:avLst/>
          </a:prstGeom>
          <a:noFill/>
          <a:ln/>
        </p:spPr>
        <p:txBody>
          <a:bodyPr wrap="square" lIns="0" tIns="0" rIns="0" bIns="0" rtlCol="0" anchor="t"/>
          <a:lstStyle/>
          <a:p>
            <a:pPr indent="0" marL="0">
              <a:buNone/>
            </a:pPr>
            <a:r>
              <a:rPr lang="en-US" sz="1600" b="1" dirty="0">
                <a:solidFill>
                  <a:schemeClr val="bg1"/>
                </a:solidFill>
              </a:rPr>
              <a:t>Rarest attacks in the test set</a:t>
            </a:r>
            <a:endParaRPr lang="en-US" sz="1600" dirty="0"/>
          </a:p>
        </p:txBody>
      </p:sp>
      <p:graphicFrame>
        <p:nvGraphicFramePr>
          <p:cNvPr id="9" name="rare classes"/>
          <p:cNvGraphicFramePr>
            <a:graphicFrameLocks noGrp="1"/>
          </p:cNvGraphicFramePr>
          <p:nvPr>
            <p:extLst>
              <p:ext uri="{D42A27DB-BD31-4B8C-83A1-F6EECF244321}">
                <p14:modId xmlns:p14="http://schemas.microsoft.com/office/powerpoint/2010/main" val="1579011935"/>
              </p:ext>
            </p:extLst>
          </p:nvPr>
        </p:nvGraphicFramePr>
        <p:xfrm>
          <a:off x="6172200" y="1828800"/>
          <a:ext cx="5440680" cy="914400"/>
        </p:xfrm>
        <a:graphic>
          <a:graphicData uri="http://schemas.openxmlformats.org/drawingml/2006/table">
            <a:tbl>
              <a:tblPr/>
              <a:tblGrid>
                <a:gridCol w="1965960"/>
                <a:gridCol w="868680"/>
                <a:gridCol w="1097280"/>
                <a:gridCol w="1508760"/>
              </a:tblGrid>
              <a:tr h="384048">
                <a:tc>
                  <a:txBody>
                    <a:bodyPr/>
                    <a:lstStyle/>
                    <a:p>
                      <a:pPr indent="0" marL="0">
                        <a:buNone/>
                      </a:pPr>
                      <a:r>
                        <a:rPr lang="en-US" sz="1400" b="1" dirty="0">
                          <a:solidFill>
                            <a:schemeClr val="bg2"/>
                          </a:solidFill>
                        </a:rPr>
                        <a:t>Attack class</a:t>
                      </a:r>
                      <a:endParaRPr lang="en-US" sz="1400" dirty="0"/>
                    </a:p>
                  </a:txBody>
                  <a:tcPr marL="109728" marR="109728" marT="45720" marB="45720">
                    <a:lnL w="9525" cap="flat" cmpd="sng" algn="ctr">
                      <a:solidFill>
                        <a:srgbClr val="262C2F"/>
                      </a:solidFill>
                      <a:prstDash val="solid"/>
                      <a:round/>
                      <a:headEnd type="none" w="med" len="med"/>
                      <a:tailEnd type="none" w="med" len="med"/>
                    </a:lnL>
                    <a:lnR w="9525" cap="flat" cmpd="sng" algn="ctr">
                      <a:solidFill>
                        <a:srgbClr val="262C2F"/>
                      </a:solidFill>
                      <a:prstDash val="solid"/>
                      <a:round/>
                      <a:headEnd type="none" w="med" len="med"/>
                      <a:tailEnd type="none" w="med" len="med"/>
                    </a:lnR>
                    <a:lnT w="9525" cap="flat" cmpd="sng" algn="ctr">
                      <a:solidFill>
                        <a:srgbClr val="262C2F"/>
                      </a:solidFill>
                      <a:prstDash val="solid"/>
                      <a:round/>
                      <a:headEnd type="none" w="med" len="med"/>
                      <a:tailEnd type="none" w="med" len="med"/>
                    </a:lnT>
                    <a:lnB w="9525" cap="flat" cmpd="sng" algn="ctr">
                      <a:solidFill>
                        <a:srgbClr val="262C2F"/>
                      </a:solidFill>
                      <a:prstDash val="solid"/>
                      <a:round/>
                      <a:headEnd type="none" w="med" len="med"/>
                      <a:tailEnd type="none" w="med" len="med"/>
                    </a:lnB>
                    <a:solidFill>
                      <a:schemeClr val="tx2"/>
                    </a:solidFill>
                  </a:tcPr>
                </a:tc>
                <a:tc>
                  <a:txBody>
                    <a:bodyPr/>
                    <a:lstStyle/>
                    <a:p>
                      <a:pPr algn="r" indent="0" marL="0">
                        <a:buNone/>
                      </a:pPr>
                      <a:r>
                        <a:rPr lang="en-US" sz="1400" b="1" dirty="0">
                          <a:solidFill>
                            <a:schemeClr val="bg2"/>
                          </a:solidFill>
                        </a:rPr>
                        <a:t>Flows</a:t>
                      </a:r>
                      <a:endParaRPr lang="en-US" sz="1400" dirty="0"/>
                    </a:p>
                  </a:txBody>
                  <a:tcPr marL="109728" marR="109728" marT="45720" marB="45720">
                    <a:lnL w="9525" cap="flat" cmpd="sng" algn="ctr">
                      <a:solidFill>
                        <a:srgbClr val="262C2F"/>
                      </a:solidFill>
                      <a:prstDash val="solid"/>
                      <a:round/>
                      <a:headEnd type="none" w="med" len="med"/>
                      <a:tailEnd type="none" w="med" len="med"/>
                    </a:lnL>
                    <a:lnR w="9525" cap="flat" cmpd="sng" algn="ctr">
                      <a:solidFill>
                        <a:srgbClr val="262C2F"/>
                      </a:solidFill>
                      <a:prstDash val="solid"/>
                      <a:round/>
                      <a:headEnd type="none" w="med" len="med"/>
                      <a:tailEnd type="none" w="med" len="med"/>
                    </a:lnR>
                    <a:lnT w="9525" cap="flat" cmpd="sng" algn="ctr">
                      <a:solidFill>
                        <a:srgbClr val="262C2F"/>
                      </a:solidFill>
                      <a:prstDash val="solid"/>
                      <a:round/>
                      <a:headEnd type="none" w="med" len="med"/>
                      <a:tailEnd type="none" w="med" len="med"/>
                    </a:lnT>
                    <a:lnB w="9525" cap="flat" cmpd="sng" algn="ctr">
                      <a:solidFill>
                        <a:srgbClr val="262C2F"/>
                      </a:solidFill>
                      <a:prstDash val="solid"/>
                      <a:round/>
                      <a:headEnd type="none" w="med" len="med"/>
                      <a:tailEnd type="none" w="med" len="med"/>
                    </a:lnB>
                    <a:solidFill>
                      <a:schemeClr val="tx2"/>
                    </a:solidFill>
                  </a:tcPr>
                </a:tc>
                <a:tc>
                  <a:txBody>
                    <a:bodyPr/>
                    <a:lstStyle/>
                    <a:p>
                      <a:pPr algn="r" indent="0" marL="0">
                        <a:buNone/>
                      </a:pPr>
                      <a:r>
                        <a:rPr lang="en-US" sz="1400" b="1" dirty="0">
                          <a:solidFill>
                            <a:schemeClr val="bg2"/>
                          </a:solidFill>
                        </a:rPr>
                        <a:t>Alerted</a:t>
                      </a:r>
                      <a:endParaRPr lang="en-US" sz="1400" dirty="0"/>
                    </a:p>
                  </a:txBody>
                  <a:tcPr marL="109728" marR="109728" marT="45720" marB="45720">
                    <a:lnL w="9525" cap="flat" cmpd="sng" algn="ctr">
                      <a:solidFill>
                        <a:srgbClr val="262C2F"/>
                      </a:solidFill>
                      <a:prstDash val="solid"/>
                      <a:round/>
                      <a:headEnd type="none" w="med" len="med"/>
                      <a:tailEnd type="none" w="med" len="med"/>
                    </a:lnL>
                    <a:lnR w="9525" cap="flat" cmpd="sng" algn="ctr">
                      <a:solidFill>
                        <a:srgbClr val="262C2F"/>
                      </a:solidFill>
                      <a:prstDash val="solid"/>
                      <a:round/>
                      <a:headEnd type="none" w="med" len="med"/>
                      <a:tailEnd type="none" w="med" len="med"/>
                    </a:lnR>
                    <a:lnT w="9525" cap="flat" cmpd="sng" algn="ctr">
                      <a:solidFill>
                        <a:srgbClr val="262C2F"/>
                      </a:solidFill>
                      <a:prstDash val="solid"/>
                      <a:round/>
                      <a:headEnd type="none" w="med" len="med"/>
                      <a:tailEnd type="none" w="med" len="med"/>
                    </a:lnT>
                    <a:lnB w="9525" cap="flat" cmpd="sng" algn="ctr">
                      <a:solidFill>
                        <a:srgbClr val="262C2F"/>
                      </a:solidFill>
                      <a:prstDash val="solid"/>
                      <a:round/>
                      <a:headEnd type="none" w="med" len="med"/>
                      <a:tailEnd type="none" w="med" len="med"/>
                    </a:lnB>
                    <a:solidFill>
                      <a:schemeClr val="tx2"/>
                    </a:solidFill>
                  </a:tcPr>
                </a:tc>
                <a:tc>
                  <a:txBody>
                    <a:bodyPr/>
                    <a:lstStyle/>
                    <a:p>
                      <a:pPr algn="r" indent="0" marL="0">
                        <a:buNone/>
                      </a:pPr>
                      <a:r>
                        <a:rPr lang="en-US" sz="1400" b="1" dirty="0">
                          <a:solidFill>
                            <a:schemeClr val="bg2"/>
                          </a:solidFill>
                        </a:rPr>
                        <a:t>Named right</a:t>
                      </a:r>
                      <a:endParaRPr lang="en-US" sz="1400" dirty="0"/>
                    </a:p>
                  </a:txBody>
                  <a:tcPr marL="109728" marR="109728" marT="45720" marB="45720">
                    <a:lnL w="9525" cap="flat" cmpd="sng" algn="ctr">
                      <a:solidFill>
                        <a:srgbClr val="262C2F"/>
                      </a:solidFill>
                      <a:prstDash val="solid"/>
                      <a:round/>
                      <a:headEnd type="none" w="med" len="med"/>
                      <a:tailEnd type="none" w="med" len="med"/>
                    </a:lnL>
                    <a:lnR w="9525" cap="flat" cmpd="sng" algn="ctr">
                      <a:solidFill>
                        <a:srgbClr val="262C2F"/>
                      </a:solidFill>
                      <a:prstDash val="solid"/>
                      <a:round/>
                      <a:headEnd type="none" w="med" len="med"/>
                      <a:tailEnd type="none" w="med" len="med"/>
                    </a:lnR>
                    <a:lnT w="9525" cap="flat" cmpd="sng" algn="ctr">
                      <a:solidFill>
                        <a:srgbClr val="262C2F"/>
                      </a:solidFill>
                      <a:prstDash val="solid"/>
                      <a:round/>
                      <a:headEnd type="none" w="med" len="med"/>
                      <a:tailEnd type="none" w="med" len="med"/>
                    </a:lnT>
                    <a:lnB w="9525" cap="flat" cmpd="sng" algn="ctr">
                      <a:solidFill>
                        <a:srgbClr val="262C2F"/>
                      </a:solidFill>
                      <a:prstDash val="solid"/>
                      <a:round/>
                      <a:headEnd type="none" w="med" len="med"/>
                      <a:tailEnd type="none" w="med" len="med"/>
                    </a:lnB>
                    <a:solidFill>
                      <a:schemeClr val="tx2"/>
                    </a:solidFill>
                  </a:tcPr>
                </a:tc>
              </a:tr>
              <a:tr h="384048">
                <a:tc>
                  <a:txBody>
                    <a:bodyPr/>
                    <a:lstStyle/>
                    <a:p>
                      <a:pPr indent="0" marL="0">
                        <a:buNone/>
                      </a:pPr>
                      <a:r>
                        <a:rPr lang="en-US" sz="1400" dirty="0">
                          <a:solidFill>
                            <a:schemeClr val="bg1"/>
                          </a:solidFill>
                        </a:rPr>
                        <a:t>Heartbleed</a:t>
                      </a:r>
                      <a:endParaRPr lang="en-US" sz="1400" dirty="0"/>
                    </a:p>
                  </a:txBody>
                  <a:tcPr marL="109728" marR="109728" marT="45720" marB="45720">
                    <a:lnL w="9525" cap="flat" cmpd="sng" algn="ctr">
                      <a:solidFill>
                        <a:srgbClr val="262C2F"/>
                      </a:solidFill>
                      <a:prstDash val="solid"/>
                      <a:round/>
                      <a:headEnd type="none" w="med" len="med"/>
                      <a:tailEnd type="none" w="med" len="med"/>
                    </a:lnL>
                    <a:lnR w="9525" cap="flat" cmpd="sng" algn="ctr">
                      <a:solidFill>
                        <a:srgbClr val="262C2F"/>
                      </a:solidFill>
                      <a:prstDash val="solid"/>
                      <a:round/>
                      <a:headEnd type="none" w="med" len="med"/>
                      <a:tailEnd type="none" w="med" len="med"/>
                    </a:lnR>
                    <a:lnT w="9525" cap="flat" cmpd="sng" algn="ctr">
                      <a:solidFill>
                        <a:srgbClr val="262C2F"/>
                      </a:solidFill>
                      <a:prstDash val="solid"/>
                      <a:round/>
                      <a:headEnd type="none" w="med" len="med"/>
                      <a:tailEnd type="none" w="med" len="med"/>
                    </a:lnT>
                    <a:lnB w="9525" cap="flat" cmpd="sng" algn="ctr">
                      <a:solidFill>
                        <a:srgbClr val="262C2F"/>
                      </a:solidFill>
                      <a:prstDash val="solid"/>
                      <a:round/>
                      <a:headEnd type="none" w="med" len="med"/>
                      <a:tailEnd type="none" w="med" len="med"/>
                    </a:lnB>
                    <a:solidFill>
                      <a:schemeClr val="tx2"/>
                    </a:solidFill>
                  </a:tcPr>
                </a:tc>
                <a:tc>
                  <a:txBody>
                    <a:bodyPr/>
                    <a:lstStyle/>
                    <a:p>
                      <a:pPr algn="r" indent="0" marL="0">
                        <a:buNone/>
                      </a:pPr>
                      <a:r>
                        <a:rPr lang="en-US" sz="1400" dirty="0">
                          <a:solidFill>
                            <a:schemeClr val="bg1"/>
                          </a:solidFill>
                          <a:latin typeface="IBM Plex Mono" pitchFamily="34" charset="0"/>
                          <a:ea typeface="IBM Plex Mono" pitchFamily="34" charset="-122"/>
                          <a:cs typeface="IBM Plex Mono" pitchFamily="34" charset="-120"/>
                        </a:rPr>
                        <a:t>2</a:t>
                      </a:r>
                      <a:endParaRPr lang="en-US" sz="1400" dirty="0">
                        <a:latin typeface="IBM Plex Mono" charset="0"/>
                        <a:ea typeface="IBM Plex Mono" charset="0"/>
                        <a:cs typeface="IBM Plex Mono" charset="0"/>
                      </a:endParaRPr>
                    </a:p>
                  </a:txBody>
                  <a:tcPr marL="109728" marR="109728" marT="45720" marB="45720">
                    <a:lnL w="9525" cap="flat" cmpd="sng" algn="ctr">
                      <a:solidFill>
                        <a:srgbClr val="262C2F"/>
                      </a:solidFill>
                      <a:prstDash val="solid"/>
                      <a:round/>
                      <a:headEnd type="none" w="med" len="med"/>
                      <a:tailEnd type="none" w="med" len="med"/>
                    </a:lnL>
                    <a:lnR w="9525" cap="flat" cmpd="sng" algn="ctr">
                      <a:solidFill>
                        <a:srgbClr val="262C2F"/>
                      </a:solidFill>
                      <a:prstDash val="solid"/>
                      <a:round/>
                      <a:headEnd type="none" w="med" len="med"/>
                      <a:tailEnd type="none" w="med" len="med"/>
                    </a:lnR>
                    <a:lnT w="9525" cap="flat" cmpd="sng" algn="ctr">
                      <a:solidFill>
                        <a:srgbClr val="262C2F"/>
                      </a:solidFill>
                      <a:prstDash val="solid"/>
                      <a:round/>
                      <a:headEnd type="none" w="med" len="med"/>
                      <a:tailEnd type="none" w="med" len="med"/>
                    </a:lnT>
                    <a:lnB w="9525" cap="flat" cmpd="sng" algn="ctr">
                      <a:solidFill>
                        <a:srgbClr val="262C2F"/>
                      </a:solidFill>
                      <a:prstDash val="solid"/>
                      <a:round/>
                      <a:headEnd type="none" w="med" len="med"/>
                      <a:tailEnd type="none" w="med" len="med"/>
                    </a:lnB>
                    <a:solidFill>
                      <a:schemeClr val="tx2"/>
                    </a:solidFill>
                  </a:tcPr>
                </a:tc>
                <a:tc>
                  <a:txBody>
                    <a:bodyPr/>
                    <a:lstStyle/>
                    <a:p>
                      <a:pPr algn="r" indent="0" marL="0">
                        <a:buNone/>
                      </a:pPr>
                      <a:r>
                        <a:rPr lang="en-US" sz="1400" dirty="0">
                          <a:solidFill>
                            <a:schemeClr val="bg1"/>
                          </a:solidFill>
                          <a:latin typeface="IBM Plex Mono" pitchFamily="34" charset="0"/>
                          <a:ea typeface="IBM Plex Mono" pitchFamily="34" charset="-122"/>
                          <a:cs typeface="IBM Plex Mono" pitchFamily="34" charset="-120"/>
                        </a:rPr>
                        <a:t>100%</a:t>
                      </a:r>
                      <a:endParaRPr lang="en-US" sz="1400" dirty="0">
                        <a:latin typeface="IBM Plex Mono" charset="0"/>
                        <a:ea typeface="IBM Plex Mono" charset="0"/>
                        <a:cs typeface="IBM Plex Mono" charset="0"/>
                      </a:endParaRPr>
                    </a:p>
                  </a:txBody>
                  <a:tcPr marL="109728" marR="109728" marT="45720" marB="45720">
                    <a:lnL w="9525" cap="flat" cmpd="sng" algn="ctr">
                      <a:solidFill>
                        <a:srgbClr val="262C2F"/>
                      </a:solidFill>
                      <a:prstDash val="solid"/>
                      <a:round/>
                      <a:headEnd type="none" w="med" len="med"/>
                      <a:tailEnd type="none" w="med" len="med"/>
                    </a:lnL>
                    <a:lnR w="9525" cap="flat" cmpd="sng" algn="ctr">
                      <a:solidFill>
                        <a:srgbClr val="262C2F"/>
                      </a:solidFill>
                      <a:prstDash val="solid"/>
                      <a:round/>
                      <a:headEnd type="none" w="med" len="med"/>
                      <a:tailEnd type="none" w="med" len="med"/>
                    </a:lnR>
                    <a:lnT w="9525" cap="flat" cmpd="sng" algn="ctr">
                      <a:solidFill>
                        <a:srgbClr val="262C2F"/>
                      </a:solidFill>
                      <a:prstDash val="solid"/>
                      <a:round/>
                      <a:headEnd type="none" w="med" len="med"/>
                      <a:tailEnd type="none" w="med" len="med"/>
                    </a:lnT>
                    <a:lnB w="9525" cap="flat" cmpd="sng" algn="ctr">
                      <a:solidFill>
                        <a:srgbClr val="262C2F"/>
                      </a:solidFill>
                      <a:prstDash val="solid"/>
                      <a:round/>
                      <a:headEnd type="none" w="med" len="med"/>
                      <a:tailEnd type="none" w="med" len="med"/>
                    </a:lnB>
                    <a:solidFill>
                      <a:schemeClr val="tx2"/>
                    </a:solidFill>
                  </a:tcPr>
                </a:tc>
                <a:tc>
                  <a:txBody>
                    <a:bodyPr/>
                    <a:lstStyle/>
                    <a:p>
                      <a:pPr algn="r" indent="0" marL="0">
                        <a:buNone/>
                      </a:pPr>
                      <a:r>
                        <a:rPr lang="en-US" sz="1400" dirty="0">
                          <a:solidFill>
                            <a:schemeClr val="bg1"/>
                          </a:solidFill>
                          <a:latin typeface="IBM Plex Mono" pitchFamily="34" charset="0"/>
                          <a:ea typeface="IBM Plex Mono" pitchFamily="34" charset="-122"/>
                          <a:cs typeface="IBM Plex Mono" pitchFamily="34" charset="-120"/>
                        </a:rPr>
                        <a:t>100%</a:t>
                      </a:r>
                      <a:endParaRPr lang="en-US" sz="1400" dirty="0">
                        <a:latin typeface="IBM Plex Mono" charset="0"/>
                        <a:ea typeface="IBM Plex Mono" charset="0"/>
                        <a:cs typeface="IBM Plex Mono" charset="0"/>
                      </a:endParaRPr>
                    </a:p>
                  </a:txBody>
                  <a:tcPr marL="109728" marR="109728" marT="45720" marB="45720">
                    <a:lnL w="9525" cap="flat" cmpd="sng" algn="ctr">
                      <a:solidFill>
                        <a:srgbClr val="262C2F"/>
                      </a:solidFill>
                      <a:prstDash val="solid"/>
                      <a:round/>
                      <a:headEnd type="none" w="med" len="med"/>
                      <a:tailEnd type="none" w="med" len="med"/>
                    </a:lnL>
                    <a:lnR w="9525" cap="flat" cmpd="sng" algn="ctr">
                      <a:solidFill>
                        <a:srgbClr val="262C2F"/>
                      </a:solidFill>
                      <a:prstDash val="solid"/>
                      <a:round/>
                      <a:headEnd type="none" w="med" len="med"/>
                      <a:tailEnd type="none" w="med" len="med"/>
                    </a:lnR>
                    <a:lnT w="9525" cap="flat" cmpd="sng" algn="ctr">
                      <a:solidFill>
                        <a:srgbClr val="262C2F"/>
                      </a:solidFill>
                      <a:prstDash val="solid"/>
                      <a:round/>
                      <a:headEnd type="none" w="med" len="med"/>
                      <a:tailEnd type="none" w="med" len="med"/>
                    </a:lnT>
                    <a:lnB w="9525" cap="flat" cmpd="sng" algn="ctr">
                      <a:solidFill>
                        <a:srgbClr val="262C2F"/>
                      </a:solidFill>
                      <a:prstDash val="solid"/>
                      <a:round/>
                      <a:headEnd type="none" w="med" len="med"/>
                      <a:tailEnd type="none" w="med" len="med"/>
                    </a:lnB>
                    <a:solidFill>
                      <a:schemeClr val="tx2"/>
                    </a:solidFill>
                  </a:tcPr>
                </a:tc>
              </a:tr>
              <a:tr h="384048">
                <a:tc>
                  <a:txBody>
                    <a:bodyPr/>
                    <a:lstStyle/>
                    <a:p>
                      <a:pPr indent="0" marL="0">
                        <a:buNone/>
                      </a:pPr>
                      <a:r>
                        <a:rPr lang="en-US" sz="1400" dirty="0">
                          <a:solidFill>
                            <a:schemeClr val="bg1"/>
                          </a:solidFill>
                        </a:rPr>
                        <a:t>Web SQL Injection</a:t>
                      </a:r>
                      <a:endParaRPr lang="en-US" sz="1400" dirty="0"/>
                    </a:p>
                  </a:txBody>
                  <a:tcPr marL="109728" marR="109728" marT="45720" marB="45720">
                    <a:lnL w="9525" cap="flat" cmpd="sng" algn="ctr">
                      <a:solidFill>
                        <a:srgbClr val="262C2F"/>
                      </a:solidFill>
                      <a:prstDash val="solid"/>
                      <a:round/>
                      <a:headEnd type="none" w="med" len="med"/>
                      <a:tailEnd type="none" w="med" len="med"/>
                    </a:lnL>
                    <a:lnR w="9525" cap="flat" cmpd="sng" algn="ctr">
                      <a:solidFill>
                        <a:srgbClr val="262C2F"/>
                      </a:solidFill>
                      <a:prstDash val="solid"/>
                      <a:round/>
                      <a:headEnd type="none" w="med" len="med"/>
                      <a:tailEnd type="none" w="med" len="med"/>
                    </a:lnR>
                    <a:lnT w="9525" cap="flat" cmpd="sng" algn="ctr">
                      <a:solidFill>
                        <a:srgbClr val="262C2F"/>
                      </a:solidFill>
                      <a:prstDash val="solid"/>
                      <a:round/>
                      <a:headEnd type="none" w="med" len="med"/>
                      <a:tailEnd type="none" w="med" len="med"/>
                    </a:lnT>
                    <a:lnB w="9525" cap="flat" cmpd="sng" algn="ctr">
                      <a:solidFill>
                        <a:srgbClr val="262C2F"/>
                      </a:solidFill>
                      <a:prstDash val="solid"/>
                      <a:round/>
                      <a:headEnd type="none" w="med" len="med"/>
                      <a:tailEnd type="none" w="med" len="med"/>
                    </a:lnB>
                    <a:solidFill>
                      <a:schemeClr val="tx2"/>
                    </a:solidFill>
                  </a:tcPr>
                </a:tc>
                <a:tc>
                  <a:txBody>
                    <a:bodyPr/>
                    <a:lstStyle/>
                    <a:p>
                      <a:pPr algn="r" indent="0" marL="0">
                        <a:buNone/>
                      </a:pPr>
                      <a:r>
                        <a:rPr lang="en-US" sz="1400" dirty="0">
                          <a:solidFill>
                            <a:schemeClr val="bg1"/>
                          </a:solidFill>
                          <a:latin typeface="IBM Plex Mono" pitchFamily="34" charset="0"/>
                          <a:ea typeface="IBM Plex Mono" pitchFamily="34" charset="-122"/>
                          <a:cs typeface="IBM Plex Mono" pitchFamily="34" charset="-120"/>
                        </a:rPr>
                        <a:t>3</a:t>
                      </a:r>
                      <a:endParaRPr lang="en-US" sz="1400" dirty="0">
                        <a:latin typeface="IBM Plex Mono" charset="0"/>
                        <a:ea typeface="IBM Plex Mono" charset="0"/>
                        <a:cs typeface="IBM Plex Mono" charset="0"/>
                      </a:endParaRPr>
                    </a:p>
                  </a:txBody>
                  <a:tcPr marL="109728" marR="109728" marT="45720" marB="45720">
                    <a:lnL w="9525" cap="flat" cmpd="sng" algn="ctr">
                      <a:solidFill>
                        <a:srgbClr val="262C2F"/>
                      </a:solidFill>
                      <a:prstDash val="solid"/>
                      <a:round/>
                      <a:headEnd type="none" w="med" len="med"/>
                      <a:tailEnd type="none" w="med" len="med"/>
                    </a:lnL>
                    <a:lnR w="9525" cap="flat" cmpd="sng" algn="ctr">
                      <a:solidFill>
                        <a:srgbClr val="262C2F"/>
                      </a:solidFill>
                      <a:prstDash val="solid"/>
                      <a:round/>
                      <a:headEnd type="none" w="med" len="med"/>
                      <a:tailEnd type="none" w="med" len="med"/>
                    </a:lnR>
                    <a:lnT w="9525" cap="flat" cmpd="sng" algn="ctr">
                      <a:solidFill>
                        <a:srgbClr val="262C2F"/>
                      </a:solidFill>
                      <a:prstDash val="solid"/>
                      <a:round/>
                      <a:headEnd type="none" w="med" len="med"/>
                      <a:tailEnd type="none" w="med" len="med"/>
                    </a:lnT>
                    <a:lnB w="9525" cap="flat" cmpd="sng" algn="ctr">
                      <a:solidFill>
                        <a:srgbClr val="262C2F"/>
                      </a:solidFill>
                      <a:prstDash val="solid"/>
                      <a:round/>
                      <a:headEnd type="none" w="med" len="med"/>
                      <a:tailEnd type="none" w="med" len="med"/>
                    </a:lnB>
                    <a:solidFill>
                      <a:schemeClr val="tx2"/>
                    </a:solidFill>
                  </a:tcPr>
                </a:tc>
                <a:tc>
                  <a:txBody>
                    <a:bodyPr/>
                    <a:lstStyle/>
                    <a:p>
                      <a:pPr algn="r" indent="0" marL="0">
                        <a:buNone/>
                      </a:pPr>
                      <a:r>
                        <a:rPr lang="en-US" sz="1400" dirty="0">
                          <a:solidFill>
                            <a:schemeClr val="bg1"/>
                          </a:solidFill>
                          <a:latin typeface="IBM Plex Mono" pitchFamily="34" charset="0"/>
                          <a:ea typeface="IBM Plex Mono" pitchFamily="34" charset="-122"/>
                          <a:cs typeface="IBM Plex Mono" pitchFamily="34" charset="-120"/>
                        </a:rPr>
                        <a:t>100%</a:t>
                      </a:r>
                      <a:endParaRPr lang="en-US" sz="1400" dirty="0">
                        <a:latin typeface="IBM Plex Mono" charset="0"/>
                        <a:ea typeface="IBM Plex Mono" charset="0"/>
                        <a:cs typeface="IBM Plex Mono" charset="0"/>
                      </a:endParaRPr>
                    </a:p>
                  </a:txBody>
                  <a:tcPr marL="109728" marR="109728" marT="45720" marB="45720">
                    <a:lnL w="9525" cap="flat" cmpd="sng" algn="ctr">
                      <a:solidFill>
                        <a:srgbClr val="262C2F"/>
                      </a:solidFill>
                      <a:prstDash val="solid"/>
                      <a:round/>
                      <a:headEnd type="none" w="med" len="med"/>
                      <a:tailEnd type="none" w="med" len="med"/>
                    </a:lnL>
                    <a:lnR w="9525" cap="flat" cmpd="sng" algn="ctr">
                      <a:solidFill>
                        <a:srgbClr val="262C2F"/>
                      </a:solidFill>
                      <a:prstDash val="solid"/>
                      <a:round/>
                      <a:headEnd type="none" w="med" len="med"/>
                      <a:tailEnd type="none" w="med" len="med"/>
                    </a:lnR>
                    <a:lnT w="9525" cap="flat" cmpd="sng" algn="ctr">
                      <a:solidFill>
                        <a:srgbClr val="262C2F"/>
                      </a:solidFill>
                      <a:prstDash val="solid"/>
                      <a:round/>
                      <a:headEnd type="none" w="med" len="med"/>
                      <a:tailEnd type="none" w="med" len="med"/>
                    </a:lnT>
                    <a:lnB w="9525" cap="flat" cmpd="sng" algn="ctr">
                      <a:solidFill>
                        <a:srgbClr val="262C2F"/>
                      </a:solidFill>
                      <a:prstDash val="solid"/>
                      <a:round/>
                      <a:headEnd type="none" w="med" len="med"/>
                      <a:tailEnd type="none" w="med" len="med"/>
                    </a:lnB>
                    <a:solidFill>
                      <a:schemeClr val="tx2"/>
                    </a:solidFill>
                  </a:tcPr>
                </a:tc>
                <a:tc>
                  <a:txBody>
                    <a:bodyPr/>
                    <a:lstStyle/>
                    <a:p>
                      <a:pPr algn="r" indent="0" marL="0">
                        <a:buNone/>
                      </a:pPr>
                      <a:r>
                        <a:rPr lang="en-US" sz="1400" dirty="0">
                          <a:solidFill>
                            <a:schemeClr val="bg1"/>
                          </a:solidFill>
                          <a:latin typeface="IBM Plex Mono" pitchFamily="34" charset="0"/>
                          <a:ea typeface="IBM Plex Mono" pitchFamily="34" charset="-122"/>
                          <a:cs typeface="IBM Plex Mono" pitchFamily="34" charset="-120"/>
                        </a:rPr>
                        <a:t>0%</a:t>
                      </a:r>
                      <a:endParaRPr lang="en-US" sz="1400" dirty="0">
                        <a:latin typeface="IBM Plex Mono" charset="0"/>
                        <a:ea typeface="IBM Plex Mono" charset="0"/>
                        <a:cs typeface="IBM Plex Mono" charset="0"/>
                      </a:endParaRPr>
                    </a:p>
                  </a:txBody>
                  <a:tcPr marL="109728" marR="109728" marT="45720" marB="45720">
                    <a:lnL w="9525" cap="flat" cmpd="sng" algn="ctr">
                      <a:solidFill>
                        <a:srgbClr val="262C2F"/>
                      </a:solidFill>
                      <a:prstDash val="solid"/>
                      <a:round/>
                      <a:headEnd type="none" w="med" len="med"/>
                      <a:tailEnd type="none" w="med" len="med"/>
                    </a:lnL>
                    <a:lnR w="9525" cap="flat" cmpd="sng" algn="ctr">
                      <a:solidFill>
                        <a:srgbClr val="262C2F"/>
                      </a:solidFill>
                      <a:prstDash val="solid"/>
                      <a:round/>
                      <a:headEnd type="none" w="med" len="med"/>
                      <a:tailEnd type="none" w="med" len="med"/>
                    </a:lnR>
                    <a:lnT w="9525" cap="flat" cmpd="sng" algn="ctr">
                      <a:solidFill>
                        <a:srgbClr val="262C2F"/>
                      </a:solidFill>
                      <a:prstDash val="solid"/>
                      <a:round/>
                      <a:headEnd type="none" w="med" len="med"/>
                      <a:tailEnd type="none" w="med" len="med"/>
                    </a:lnT>
                    <a:lnB w="9525" cap="flat" cmpd="sng" algn="ctr">
                      <a:solidFill>
                        <a:srgbClr val="262C2F"/>
                      </a:solidFill>
                      <a:prstDash val="solid"/>
                      <a:round/>
                      <a:headEnd type="none" w="med" len="med"/>
                      <a:tailEnd type="none" w="med" len="med"/>
                    </a:lnB>
                    <a:solidFill>
                      <a:schemeClr val="tx2"/>
                    </a:solidFill>
                  </a:tcPr>
                </a:tc>
              </a:tr>
              <a:tr h="384048">
                <a:tc>
                  <a:txBody>
                    <a:bodyPr/>
                    <a:lstStyle/>
                    <a:p>
                      <a:pPr indent="0" marL="0">
                        <a:buNone/>
                      </a:pPr>
                      <a:r>
                        <a:rPr lang="en-US" sz="1400" dirty="0">
                          <a:solidFill>
                            <a:schemeClr val="bg1"/>
                          </a:solidFill>
                        </a:rPr>
                        <a:t>Web XSS</a:t>
                      </a:r>
                      <a:endParaRPr lang="en-US" sz="1400" dirty="0"/>
                    </a:p>
                  </a:txBody>
                  <a:tcPr marL="109728" marR="109728" marT="45720" marB="45720">
                    <a:lnL w="9525" cap="flat" cmpd="sng" algn="ctr">
                      <a:solidFill>
                        <a:srgbClr val="262C2F"/>
                      </a:solidFill>
                      <a:prstDash val="solid"/>
                      <a:round/>
                      <a:headEnd type="none" w="med" len="med"/>
                      <a:tailEnd type="none" w="med" len="med"/>
                    </a:lnL>
                    <a:lnR w="9525" cap="flat" cmpd="sng" algn="ctr">
                      <a:solidFill>
                        <a:srgbClr val="262C2F"/>
                      </a:solidFill>
                      <a:prstDash val="solid"/>
                      <a:round/>
                      <a:headEnd type="none" w="med" len="med"/>
                      <a:tailEnd type="none" w="med" len="med"/>
                    </a:lnR>
                    <a:lnT w="9525" cap="flat" cmpd="sng" algn="ctr">
                      <a:solidFill>
                        <a:srgbClr val="262C2F"/>
                      </a:solidFill>
                      <a:prstDash val="solid"/>
                      <a:round/>
                      <a:headEnd type="none" w="med" len="med"/>
                      <a:tailEnd type="none" w="med" len="med"/>
                    </a:lnT>
                    <a:lnB w="9525" cap="flat" cmpd="sng" algn="ctr">
                      <a:solidFill>
                        <a:srgbClr val="262C2F"/>
                      </a:solidFill>
                      <a:prstDash val="solid"/>
                      <a:round/>
                      <a:headEnd type="none" w="med" len="med"/>
                      <a:tailEnd type="none" w="med" len="med"/>
                    </a:lnB>
                    <a:solidFill>
                      <a:schemeClr val="tx2"/>
                    </a:solidFill>
                  </a:tcPr>
                </a:tc>
                <a:tc>
                  <a:txBody>
                    <a:bodyPr/>
                    <a:lstStyle/>
                    <a:p>
                      <a:pPr algn="r" indent="0" marL="0">
                        <a:buNone/>
                      </a:pPr>
                      <a:r>
                        <a:rPr lang="en-US" sz="1400" dirty="0">
                          <a:solidFill>
                            <a:schemeClr val="bg1"/>
                          </a:solidFill>
                          <a:latin typeface="IBM Plex Mono" pitchFamily="34" charset="0"/>
                          <a:ea typeface="IBM Plex Mono" pitchFamily="34" charset="-122"/>
                          <a:cs typeface="IBM Plex Mono" pitchFamily="34" charset="-120"/>
                        </a:rPr>
                        <a:t>4</a:t>
                      </a:r>
                      <a:endParaRPr lang="en-US" sz="1400" dirty="0">
                        <a:latin typeface="IBM Plex Mono" charset="0"/>
                        <a:ea typeface="IBM Plex Mono" charset="0"/>
                        <a:cs typeface="IBM Plex Mono" charset="0"/>
                      </a:endParaRPr>
                    </a:p>
                  </a:txBody>
                  <a:tcPr marL="109728" marR="109728" marT="45720" marB="45720">
                    <a:lnL w="9525" cap="flat" cmpd="sng" algn="ctr">
                      <a:solidFill>
                        <a:srgbClr val="262C2F"/>
                      </a:solidFill>
                      <a:prstDash val="solid"/>
                      <a:round/>
                      <a:headEnd type="none" w="med" len="med"/>
                      <a:tailEnd type="none" w="med" len="med"/>
                    </a:lnL>
                    <a:lnR w="9525" cap="flat" cmpd="sng" algn="ctr">
                      <a:solidFill>
                        <a:srgbClr val="262C2F"/>
                      </a:solidFill>
                      <a:prstDash val="solid"/>
                      <a:round/>
                      <a:headEnd type="none" w="med" len="med"/>
                      <a:tailEnd type="none" w="med" len="med"/>
                    </a:lnR>
                    <a:lnT w="9525" cap="flat" cmpd="sng" algn="ctr">
                      <a:solidFill>
                        <a:srgbClr val="262C2F"/>
                      </a:solidFill>
                      <a:prstDash val="solid"/>
                      <a:round/>
                      <a:headEnd type="none" w="med" len="med"/>
                      <a:tailEnd type="none" w="med" len="med"/>
                    </a:lnT>
                    <a:lnB w="9525" cap="flat" cmpd="sng" algn="ctr">
                      <a:solidFill>
                        <a:srgbClr val="262C2F"/>
                      </a:solidFill>
                      <a:prstDash val="solid"/>
                      <a:round/>
                      <a:headEnd type="none" w="med" len="med"/>
                      <a:tailEnd type="none" w="med" len="med"/>
                    </a:lnB>
                    <a:solidFill>
                      <a:schemeClr val="tx2"/>
                    </a:solidFill>
                  </a:tcPr>
                </a:tc>
                <a:tc>
                  <a:txBody>
                    <a:bodyPr/>
                    <a:lstStyle/>
                    <a:p>
                      <a:pPr algn="r" indent="0" marL="0">
                        <a:buNone/>
                      </a:pPr>
                      <a:r>
                        <a:rPr lang="en-US" sz="1400" dirty="0">
                          <a:solidFill>
                            <a:schemeClr val="bg1"/>
                          </a:solidFill>
                          <a:latin typeface="IBM Plex Mono" pitchFamily="34" charset="0"/>
                          <a:ea typeface="IBM Plex Mono" pitchFamily="34" charset="-122"/>
                          <a:cs typeface="IBM Plex Mono" pitchFamily="34" charset="-120"/>
                        </a:rPr>
                        <a:t>100%</a:t>
                      </a:r>
                      <a:endParaRPr lang="en-US" sz="1400" dirty="0">
                        <a:latin typeface="IBM Plex Mono" charset="0"/>
                        <a:ea typeface="IBM Plex Mono" charset="0"/>
                        <a:cs typeface="IBM Plex Mono" charset="0"/>
                      </a:endParaRPr>
                    </a:p>
                  </a:txBody>
                  <a:tcPr marL="109728" marR="109728" marT="45720" marB="45720">
                    <a:lnL w="9525" cap="flat" cmpd="sng" algn="ctr">
                      <a:solidFill>
                        <a:srgbClr val="262C2F"/>
                      </a:solidFill>
                      <a:prstDash val="solid"/>
                      <a:round/>
                      <a:headEnd type="none" w="med" len="med"/>
                      <a:tailEnd type="none" w="med" len="med"/>
                    </a:lnL>
                    <a:lnR w="9525" cap="flat" cmpd="sng" algn="ctr">
                      <a:solidFill>
                        <a:srgbClr val="262C2F"/>
                      </a:solidFill>
                      <a:prstDash val="solid"/>
                      <a:round/>
                      <a:headEnd type="none" w="med" len="med"/>
                      <a:tailEnd type="none" w="med" len="med"/>
                    </a:lnR>
                    <a:lnT w="9525" cap="flat" cmpd="sng" algn="ctr">
                      <a:solidFill>
                        <a:srgbClr val="262C2F"/>
                      </a:solidFill>
                      <a:prstDash val="solid"/>
                      <a:round/>
                      <a:headEnd type="none" w="med" len="med"/>
                      <a:tailEnd type="none" w="med" len="med"/>
                    </a:lnT>
                    <a:lnB w="9525" cap="flat" cmpd="sng" algn="ctr">
                      <a:solidFill>
                        <a:srgbClr val="262C2F"/>
                      </a:solidFill>
                      <a:prstDash val="solid"/>
                      <a:round/>
                      <a:headEnd type="none" w="med" len="med"/>
                      <a:tailEnd type="none" w="med" len="med"/>
                    </a:lnB>
                    <a:solidFill>
                      <a:schemeClr val="tx2"/>
                    </a:solidFill>
                  </a:tcPr>
                </a:tc>
                <a:tc>
                  <a:txBody>
                    <a:bodyPr/>
                    <a:lstStyle/>
                    <a:p>
                      <a:pPr algn="r" indent="0" marL="0">
                        <a:buNone/>
                      </a:pPr>
                      <a:r>
                        <a:rPr lang="en-US" sz="1400" dirty="0">
                          <a:solidFill>
                            <a:schemeClr val="bg1"/>
                          </a:solidFill>
                          <a:latin typeface="IBM Plex Mono" pitchFamily="34" charset="0"/>
                          <a:ea typeface="IBM Plex Mono" pitchFamily="34" charset="-122"/>
                          <a:cs typeface="IBM Plex Mono" pitchFamily="34" charset="-120"/>
                        </a:rPr>
                        <a:t>75%</a:t>
                      </a:r>
                      <a:endParaRPr lang="en-US" sz="1400" dirty="0">
                        <a:latin typeface="IBM Plex Mono" charset="0"/>
                        <a:ea typeface="IBM Plex Mono" charset="0"/>
                        <a:cs typeface="IBM Plex Mono" charset="0"/>
                      </a:endParaRPr>
                    </a:p>
                  </a:txBody>
                  <a:tcPr marL="109728" marR="109728" marT="45720" marB="45720">
                    <a:lnL w="9525" cap="flat" cmpd="sng" algn="ctr">
                      <a:solidFill>
                        <a:srgbClr val="262C2F"/>
                      </a:solidFill>
                      <a:prstDash val="solid"/>
                      <a:round/>
                      <a:headEnd type="none" w="med" len="med"/>
                      <a:tailEnd type="none" w="med" len="med"/>
                    </a:lnL>
                    <a:lnR w="9525" cap="flat" cmpd="sng" algn="ctr">
                      <a:solidFill>
                        <a:srgbClr val="262C2F"/>
                      </a:solidFill>
                      <a:prstDash val="solid"/>
                      <a:round/>
                      <a:headEnd type="none" w="med" len="med"/>
                      <a:tailEnd type="none" w="med" len="med"/>
                    </a:lnR>
                    <a:lnT w="9525" cap="flat" cmpd="sng" algn="ctr">
                      <a:solidFill>
                        <a:srgbClr val="262C2F"/>
                      </a:solidFill>
                      <a:prstDash val="solid"/>
                      <a:round/>
                      <a:headEnd type="none" w="med" len="med"/>
                      <a:tailEnd type="none" w="med" len="med"/>
                    </a:lnT>
                    <a:lnB w="9525" cap="flat" cmpd="sng" algn="ctr">
                      <a:solidFill>
                        <a:srgbClr val="262C2F"/>
                      </a:solidFill>
                      <a:prstDash val="solid"/>
                      <a:round/>
                      <a:headEnd type="none" w="med" len="med"/>
                      <a:tailEnd type="none" w="med" len="med"/>
                    </a:lnB>
                    <a:solidFill>
                      <a:schemeClr val="tx2"/>
                    </a:solidFill>
                  </a:tcPr>
                </a:tc>
              </a:tr>
              <a:tr h="384048">
                <a:tc>
                  <a:txBody>
                    <a:bodyPr/>
                    <a:lstStyle/>
                    <a:p>
                      <a:pPr indent="0" marL="0">
                        <a:buNone/>
                      </a:pPr>
                      <a:r>
                        <a:rPr lang="en-US" sz="1400" dirty="0">
                          <a:solidFill>
                            <a:schemeClr val="bg1"/>
                          </a:solidFill>
                        </a:rPr>
                        <a:t>Infiltration</a:t>
                      </a:r>
                      <a:endParaRPr lang="en-US" sz="1400" dirty="0"/>
                    </a:p>
                  </a:txBody>
                  <a:tcPr marL="109728" marR="109728" marT="45720" marB="45720">
                    <a:lnL w="9525" cap="flat" cmpd="sng" algn="ctr">
                      <a:solidFill>
                        <a:srgbClr val="262C2F"/>
                      </a:solidFill>
                      <a:prstDash val="solid"/>
                      <a:round/>
                      <a:headEnd type="none" w="med" len="med"/>
                      <a:tailEnd type="none" w="med" len="med"/>
                    </a:lnL>
                    <a:lnR w="9525" cap="flat" cmpd="sng" algn="ctr">
                      <a:solidFill>
                        <a:srgbClr val="262C2F"/>
                      </a:solidFill>
                      <a:prstDash val="solid"/>
                      <a:round/>
                      <a:headEnd type="none" w="med" len="med"/>
                      <a:tailEnd type="none" w="med" len="med"/>
                    </a:lnR>
                    <a:lnT w="9525" cap="flat" cmpd="sng" algn="ctr">
                      <a:solidFill>
                        <a:srgbClr val="262C2F"/>
                      </a:solidFill>
                      <a:prstDash val="solid"/>
                      <a:round/>
                      <a:headEnd type="none" w="med" len="med"/>
                      <a:tailEnd type="none" w="med" len="med"/>
                    </a:lnT>
                    <a:lnB w="9525" cap="flat" cmpd="sng" algn="ctr">
                      <a:solidFill>
                        <a:srgbClr val="262C2F"/>
                      </a:solidFill>
                      <a:prstDash val="solid"/>
                      <a:round/>
                      <a:headEnd type="none" w="med" len="med"/>
                      <a:tailEnd type="none" w="med" len="med"/>
                    </a:lnB>
                    <a:solidFill>
                      <a:schemeClr val="tx2"/>
                    </a:solidFill>
                  </a:tcPr>
                </a:tc>
                <a:tc>
                  <a:txBody>
                    <a:bodyPr/>
                    <a:lstStyle/>
                    <a:p>
                      <a:pPr algn="r" indent="0" marL="0">
                        <a:buNone/>
                      </a:pPr>
                      <a:r>
                        <a:rPr lang="en-US" sz="1400" dirty="0">
                          <a:solidFill>
                            <a:schemeClr val="bg1"/>
                          </a:solidFill>
                          <a:latin typeface="IBM Plex Mono" pitchFamily="34" charset="0"/>
                          <a:ea typeface="IBM Plex Mono" pitchFamily="34" charset="-122"/>
                          <a:cs typeface="IBM Plex Mono" pitchFamily="34" charset="-120"/>
                        </a:rPr>
                        <a:t>7</a:t>
                      </a:r>
                      <a:endParaRPr lang="en-US" sz="1400" dirty="0">
                        <a:latin typeface="IBM Plex Mono" charset="0"/>
                        <a:ea typeface="IBM Plex Mono" charset="0"/>
                        <a:cs typeface="IBM Plex Mono" charset="0"/>
                      </a:endParaRPr>
                    </a:p>
                  </a:txBody>
                  <a:tcPr marL="109728" marR="109728" marT="45720" marB="45720">
                    <a:lnL w="9525" cap="flat" cmpd="sng" algn="ctr">
                      <a:solidFill>
                        <a:srgbClr val="262C2F"/>
                      </a:solidFill>
                      <a:prstDash val="solid"/>
                      <a:round/>
                      <a:headEnd type="none" w="med" len="med"/>
                      <a:tailEnd type="none" w="med" len="med"/>
                    </a:lnL>
                    <a:lnR w="9525" cap="flat" cmpd="sng" algn="ctr">
                      <a:solidFill>
                        <a:srgbClr val="262C2F"/>
                      </a:solidFill>
                      <a:prstDash val="solid"/>
                      <a:round/>
                      <a:headEnd type="none" w="med" len="med"/>
                      <a:tailEnd type="none" w="med" len="med"/>
                    </a:lnR>
                    <a:lnT w="9525" cap="flat" cmpd="sng" algn="ctr">
                      <a:solidFill>
                        <a:srgbClr val="262C2F"/>
                      </a:solidFill>
                      <a:prstDash val="solid"/>
                      <a:round/>
                      <a:headEnd type="none" w="med" len="med"/>
                      <a:tailEnd type="none" w="med" len="med"/>
                    </a:lnT>
                    <a:lnB w="9525" cap="flat" cmpd="sng" algn="ctr">
                      <a:solidFill>
                        <a:srgbClr val="262C2F"/>
                      </a:solidFill>
                      <a:prstDash val="solid"/>
                      <a:round/>
                      <a:headEnd type="none" w="med" len="med"/>
                      <a:tailEnd type="none" w="med" len="med"/>
                    </a:lnB>
                    <a:solidFill>
                      <a:schemeClr val="tx2"/>
                    </a:solidFill>
                  </a:tcPr>
                </a:tc>
                <a:tc>
                  <a:txBody>
                    <a:bodyPr/>
                    <a:lstStyle/>
                    <a:p>
                      <a:pPr algn="r" indent="0" marL="0">
                        <a:buNone/>
                      </a:pPr>
                      <a:r>
                        <a:rPr lang="en-US" sz="1400" dirty="0">
                          <a:solidFill>
                            <a:schemeClr val="bg1"/>
                          </a:solidFill>
                          <a:latin typeface="IBM Plex Mono" pitchFamily="34" charset="0"/>
                          <a:ea typeface="IBM Plex Mono" pitchFamily="34" charset="-122"/>
                          <a:cs typeface="IBM Plex Mono" pitchFamily="34" charset="-120"/>
                        </a:rPr>
                        <a:t>100%</a:t>
                      </a:r>
                      <a:endParaRPr lang="en-US" sz="1400" dirty="0">
                        <a:latin typeface="IBM Plex Mono" charset="0"/>
                        <a:ea typeface="IBM Plex Mono" charset="0"/>
                        <a:cs typeface="IBM Plex Mono" charset="0"/>
                      </a:endParaRPr>
                    </a:p>
                  </a:txBody>
                  <a:tcPr marL="109728" marR="109728" marT="45720" marB="45720">
                    <a:lnL w="9525" cap="flat" cmpd="sng" algn="ctr">
                      <a:solidFill>
                        <a:srgbClr val="262C2F"/>
                      </a:solidFill>
                      <a:prstDash val="solid"/>
                      <a:round/>
                      <a:headEnd type="none" w="med" len="med"/>
                      <a:tailEnd type="none" w="med" len="med"/>
                    </a:lnL>
                    <a:lnR w="9525" cap="flat" cmpd="sng" algn="ctr">
                      <a:solidFill>
                        <a:srgbClr val="262C2F"/>
                      </a:solidFill>
                      <a:prstDash val="solid"/>
                      <a:round/>
                      <a:headEnd type="none" w="med" len="med"/>
                      <a:tailEnd type="none" w="med" len="med"/>
                    </a:lnR>
                    <a:lnT w="9525" cap="flat" cmpd="sng" algn="ctr">
                      <a:solidFill>
                        <a:srgbClr val="262C2F"/>
                      </a:solidFill>
                      <a:prstDash val="solid"/>
                      <a:round/>
                      <a:headEnd type="none" w="med" len="med"/>
                      <a:tailEnd type="none" w="med" len="med"/>
                    </a:lnT>
                    <a:lnB w="9525" cap="flat" cmpd="sng" algn="ctr">
                      <a:solidFill>
                        <a:srgbClr val="262C2F"/>
                      </a:solidFill>
                      <a:prstDash val="solid"/>
                      <a:round/>
                      <a:headEnd type="none" w="med" len="med"/>
                      <a:tailEnd type="none" w="med" len="med"/>
                    </a:lnB>
                    <a:solidFill>
                      <a:schemeClr val="tx2"/>
                    </a:solidFill>
                  </a:tcPr>
                </a:tc>
                <a:tc>
                  <a:txBody>
                    <a:bodyPr/>
                    <a:lstStyle/>
                    <a:p>
                      <a:pPr algn="r" indent="0" marL="0">
                        <a:buNone/>
                      </a:pPr>
                      <a:r>
                        <a:rPr lang="en-US" sz="1400" dirty="0">
                          <a:solidFill>
                            <a:schemeClr val="bg1"/>
                          </a:solidFill>
                          <a:latin typeface="IBM Plex Mono" pitchFamily="34" charset="0"/>
                          <a:ea typeface="IBM Plex Mono" pitchFamily="34" charset="-122"/>
                          <a:cs typeface="IBM Plex Mono" pitchFamily="34" charset="-120"/>
                        </a:rPr>
                        <a:t>29%</a:t>
                      </a:r>
                      <a:endParaRPr lang="en-US" sz="1400" dirty="0">
                        <a:latin typeface="IBM Plex Mono" charset="0"/>
                        <a:ea typeface="IBM Plex Mono" charset="0"/>
                        <a:cs typeface="IBM Plex Mono" charset="0"/>
                      </a:endParaRPr>
                    </a:p>
                  </a:txBody>
                  <a:tcPr marL="109728" marR="109728" marT="45720" marB="45720">
                    <a:lnL w="9525" cap="flat" cmpd="sng" algn="ctr">
                      <a:solidFill>
                        <a:srgbClr val="262C2F"/>
                      </a:solidFill>
                      <a:prstDash val="solid"/>
                      <a:round/>
                      <a:headEnd type="none" w="med" len="med"/>
                      <a:tailEnd type="none" w="med" len="med"/>
                    </a:lnL>
                    <a:lnR w="9525" cap="flat" cmpd="sng" algn="ctr">
                      <a:solidFill>
                        <a:srgbClr val="262C2F"/>
                      </a:solidFill>
                      <a:prstDash val="solid"/>
                      <a:round/>
                      <a:headEnd type="none" w="med" len="med"/>
                      <a:tailEnd type="none" w="med" len="med"/>
                    </a:lnR>
                    <a:lnT w="9525" cap="flat" cmpd="sng" algn="ctr">
                      <a:solidFill>
                        <a:srgbClr val="262C2F"/>
                      </a:solidFill>
                      <a:prstDash val="solid"/>
                      <a:round/>
                      <a:headEnd type="none" w="med" len="med"/>
                      <a:tailEnd type="none" w="med" len="med"/>
                    </a:lnT>
                    <a:lnB w="9525" cap="flat" cmpd="sng" algn="ctr">
                      <a:solidFill>
                        <a:srgbClr val="262C2F"/>
                      </a:solidFill>
                      <a:prstDash val="solid"/>
                      <a:round/>
                      <a:headEnd type="none" w="med" len="med"/>
                      <a:tailEnd type="none" w="med" len="med"/>
                    </a:lnB>
                    <a:solidFill>
                      <a:schemeClr val="tx2"/>
                    </a:solidFill>
                  </a:tcPr>
                </a:tc>
              </a:tr>
              <a:tr h="384048">
                <a:tc>
                  <a:txBody>
                    <a:bodyPr/>
                    <a:lstStyle/>
                    <a:p>
                      <a:pPr indent="0" marL="0">
                        <a:buNone/>
                      </a:pPr>
                      <a:r>
                        <a:rPr lang="en-US" sz="1400" dirty="0">
                          <a:solidFill>
                            <a:schemeClr val="bg1"/>
                          </a:solidFill>
                        </a:rPr>
                        <a:t>Web Brute Force</a:t>
                      </a:r>
                      <a:endParaRPr lang="en-US" sz="1400" dirty="0"/>
                    </a:p>
                  </a:txBody>
                  <a:tcPr marL="109728" marR="109728" marT="45720" marB="45720">
                    <a:lnL w="9525" cap="flat" cmpd="sng" algn="ctr">
                      <a:solidFill>
                        <a:srgbClr val="262C2F"/>
                      </a:solidFill>
                      <a:prstDash val="solid"/>
                      <a:round/>
                      <a:headEnd type="none" w="med" len="med"/>
                      <a:tailEnd type="none" w="med" len="med"/>
                    </a:lnL>
                    <a:lnR w="9525" cap="flat" cmpd="sng" algn="ctr">
                      <a:solidFill>
                        <a:srgbClr val="262C2F"/>
                      </a:solidFill>
                      <a:prstDash val="solid"/>
                      <a:round/>
                      <a:headEnd type="none" w="med" len="med"/>
                      <a:tailEnd type="none" w="med" len="med"/>
                    </a:lnR>
                    <a:lnT w="9525" cap="flat" cmpd="sng" algn="ctr">
                      <a:solidFill>
                        <a:srgbClr val="262C2F"/>
                      </a:solidFill>
                      <a:prstDash val="solid"/>
                      <a:round/>
                      <a:headEnd type="none" w="med" len="med"/>
                      <a:tailEnd type="none" w="med" len="med"/>
                    </a:lnT>
                    <a:lnB w="9525" cap="flat" cmpd="sng" algn="ctr">
                      <a:solidFill>
                        <a:srgbClr val="262C2F"/>
                      </a:solidFill>
                      <a:prstDash val="solid"/>
                      <a:round/>
                      <a:headEnd type="none" w="med" len="med"/>
                      <a:tailEnd type="none" w="med" len="med"/>
                    </a:lnB>
                    <a:solidFill>
                      <a:schemeClr val="tx2"/>
                    </a:solidFill>
                  </a:tcPr>
                </a:tc>
                <a:tc>
                  <a:txBody>
                    <a:bodyPr/>
                    <a:lstStyle/>
                    <a:p>
                      <a:pPr algn="r" indent="0" marL="0">
                        <a:buNone/>
                      </a:pPr>
                      <a:r>
                        <a:rPr lang="en-US" sz="1400" dirty="0">
                          <a:solidFill>
                            <a:schemeClr val="bg1"/>
                          </a:solidFill>
                          <a:latin typeface="IBM Plex Mono" pitchFamily="34" charset="0"/>
                          <a:ea typeface="IBM Plex Mono" pitchFamily="34" charset="-122"/>
                          <a:cs typeface="IBM Plex Mono" pitchFamily="34" charset="-120"/>
                        </a:rPr>
                        <a:t>15</a:t>
                      </a:r>
                      <a:endParaRPr lang="en-US" sz="1400" dirty="0">
                        <a:latin typeface="IBM Plex Mono" charset="0"/>
                        <a:ea typeface="IBM Plex Mono" charset="0"/>
                        <a:cs typeface="IBM Plex Mono" charset="0"/>
                      </a:endParaRPr>
                    </a:p>
                  </a:txBody>
                  <a:tcPr marL="109728" marR="109728" marT="45720" marB="45720">
                    <a:lnL w="9525" cap="flat" cmpd="sng" algn="ctr">
                      <a:solidFill>
                        <a:srgbClr val="262C2F"/>
                      </a:solidFill>
                      <a:prstDash val="solid"/>
                      <a:round/>
                      <a:headEnd type="none" w="med" len="med"/>
                      <a:tailEnd type="none" w="med" len="med"/>
                    </a:lnL>
                    <a:lnR w="9525" cap="flat" cmpd="sng" algn="ctr">
                      <a:solidFill>
                        <a:srgbClr val="262C2F"/>
                      </a:solidFill>
                      <a:prstDash val="solid"/>
                      <a:round/>
                      <a:headEnd type="none" w="med" len="med"/>
                      <a:tailEnd type="none" w="med" len="med"/>
                    </a:lnR>
                    <a:lnT w="9525" cap="flat" cmpd="sng" algn="ctr">
                      <a:solidFill>
                        <a:srgbClr val="262C2F"/>
                      </a:solidFill>
                      <a:prstDash val="solid"/>
                      <a:round/>
                      <a:headEnd type="none" w="med" len="med"/>
                      <a:tailEnd type="none" w="med" len="med"/>
                    </a:lnT>
                    <a:lnB w="9525" cap="flat" cmpd="sng" algn="ctr">
                      <a:solidFill>
                        <a:srgbClr val="262C2F"/>
                      </a:solidFill>
                      <a:prstDash val="solid"/>
                      <a:round/>
                      <a:headEnd type="none" w="med" len="med"/>
                      <a:tailEnd type="none" w="med" len="med"/>
                    </a:lnB>
                    <a:solidFill>
                      <a:schemeClr val="tx2"/>
                    </a:solidFill>
                  </a:tcPr>
                </a:tc>
                <a:tc>
                  <a:txBody>
                    <a:bodyPr/>
                    <a:lstStyle/>
                    <a:p>
                      <a:pPr algn="r" indent="0" marL="0">
                        <a:buNone/>
                      </a:pPr>
                      <a:r>
                        <a:rPr lang="en-US" sz="1400" dirty="0">
                          <a:solidFill>
                            <a:schemeClr val="bg1"/>
                          </a:solidFill>
                          <a:latin typeface="IBM Plex Mono" pitchFamily="34" charset="0"/>
                          <a:ea typeface="IBM Plex Mono" pitchFamily="34" charset="-122"/>
                          <a:cs typeface="IBM Plex Mono" pitchFamily="34" charset="-120"/>
                        </a:rPr>
                        <a:t>100%</a:t>
                      </a:r>
                      <a:endParaRPr lang="en-US" sz="1400" dirty="0">
                        <a:latin typeface="IBM Plex Mono" charset="0"/>
                        <a:ea typeface="IBM Plex Mono" charset="0"/>
                        <a:cs typeface="IBM Plex Mono" charset="0"/>
                      </a:endParaRPr>
                    </a:p>
                  </a:txBody>
                  <a:tcPr marL="109728" marR="109728" marT="45720" marB="45720">
                    <a:lnL w="9525" cap="flat" cmpd="sng" algn="ctr">
                      <a:solidFill>
                        <a:srgbClr val="262C2F"/>
                      </a:solidFill>
                      <a:prstDash val="solid"/>
                      <a:round/>
                      <a:headEnd type="none" w="med" len="med"/>
                      <a:tailEnd type="none" w="med" len="med"/>
                    </a:lnL>
                    <a:lnR w="9525" cap="flat" cmpd="sng" algn="ctr">
                      <a:solidFill>
                        <a:srgbClr val="262C2F"/>
                      </a:solidFill>
                      <a:prstDash val="solid"/>
                      <a:round/>
                      <a:headEnd type="none" w="med" len="med"/>
                      <a:tailEnd type="none" w="med" len="med"/>
                    </a:lnR>
                    <a:lnT w="9525" cap="flat" cmpd="sng" algn="ctr">
                      <a:solidFill>
                        <a:srgbClr val="262C2F"/>
                      </a:solidFill>
                      <a:prstDash val="solid"/>
                      <a:round/>
                      <a:headEnd type="none" w="med" len="med"/>
                      <a:tailEnd type="none" w="med" len="med"/>
                    </a:lnT>
                    <a:lnB w="9525" cap="flat" cmpd="sng" algn="ctr">
                      <a:solidFill>
                        <a:srgbClr val="262C2F"/>
                      </a:solidFill>
                      <a:prstDash val="solid"/>
                      <a:round/>
                      <a:headEnd type="none" w="med" len="med"/>
                      <a:tailEnd type="none" w="med" len="med"/>
                    </a:lnB>
                    <a:solidFill>
                      <a:schemeClr val="tx2"/>
                    </a:solidFill>
                  </a:tcPr>
                </a:tc>
                <a:tc>
                  <a:txBody>
                    <a:bodyPr/>
                    <a:lstStyle/>
                    <a:p>
                      <a:pPr algn="r" indent="0" marL="0">
                        <a:buNone/>
                      </a:pPr>
                      <a:r>
                        <a:rPr lang="en-US" sz="1400" dirty="0">
                          <a:solidFill>
                            <a:schemeClr val="bg1"/>
                          </a:solidFill>
                          <a:latin typeface="IBM Plex Mono" pitchFamily="34" charset="0"/>
                          <a:ea typeface="IBM Plex Mono" pitchFamily="34" charset="-122"/>
                          <a:cs typeface="IBM Plex Mono" pitchFamily="34" charset="-120"/>
                        </a:rPr>
                        <a:t>93%</a:t>
                      </a:r>
                      <a:endParaRPr lang="en-US" sz="1400" dirty="0">
                        <a:latin typeface="IBM Plex Mono" charset="0"/>
                        <a:ea typeface="IBM Plex Mono" charset="0"/>
                        <a:cs typeface="IBM Plex Mono" charset="0"/>
                      </a:endParaRPr>
                    </a:p>
                  </a:txBody>
                  <a:tcPr marL="109728" marR="109728" marT="45720" marB="45720">
                    <a:lnL w="9525" cap="flat" cmpd="sng" algn="ctr">
                      <a:solidFill>
                        <a:srgbClr val="262C2F"/>
                      </a:solidFill>
                      <a:prstDash val="solid"/>
                      <a:round/>
                      <a:headEnd type="none" w="med" len="med"/>
                      <a:tailEnd type="none" w="med" len="med"/>
                    </a:lnL>
                    <a:lnR w="9525" cap="flat" cmpd="sng" algn="ctr">
                      <a:solidFill>
                        <a:srgbClr val="262C2F"/>
                      </a:solidFill>
                      <a:prstDash val="solid"/>
                      <a:round/>
                      <a:headEnd type="none" w="med" len="med"/>
                      <a:tailEnd type="none" w="med" len="med"/>
                    </a:lnR>
                    <a:lnT w="9525" cap="flat" cmpd="sng" algn="ctr">
                      <a:solidFill>
                        <a:srgbClr val="262C2F"/>
                      </a:solidFill>
                      <a:prstDash val="solid"/>
                      <a:round/>
                      <a:headEnd type="none" w="med" len="med"/>
                      <a:tailEnd type="none" w="med" len="med"/>
                    </a:lnT>
                    <a:lnB w="9525" cap="flat" cmpd="sng" algn="ctr">
                      <a:solidFill>
                        <a:srgbClr val="262C2F"/>
                      </a:solidFill>
                      <a:prstDash val="solid"/>
                      <a:round/>
                      <a:headEnd type="none" w="med" len="med"/>
                      <a:tailEnd type="none" w="med" len="med"/>
                    </a:lnB>
                    <a:solidFill>
                      <a:schemeClr val="tx2"/>
                    </a:solidFill>
                  </a:tcPr>
                </a:tc>
              </a:tr>
              <a:tr h="384048">
                <a:tc>
                  <a:txBody>
                    <a:bodyPr/>
                    <a:lstStyle/>
                    <a:p>
                      <a:pPr indent="0" marL="0">
                        <a:buNone/>
                      </a:pPr>
                      <a:r>
                        <a:rPr lang="en-US" sz="1400" dirty="0">
                          <a:solidFill>
                            <a:schemeClr val="bg1"/>
                          </a:solidFill>
                        </a:rPr>
                        <a:t>Botnet</a:t>
                      </a:r>
                      <a:endParaRPr lang="en-US" sz="1400" dirty="0"/>
                    </a:p>
                  </a:txBody>
                  <a:tcPr marL="109728" marR="109728" marT="45720" marB="45720">
                    <a:lnL w="9525" cap="flat" cmpd="sng" algn="ctr">
                      <a:solidFill>
                        <a:srgbClr val="262C2F"/>
                      </a:solidFill>
                      <a:prstDash val="solid"/>
                      <a:round/>
                      <a:headEnd type="none" w="med" len="med"/>
                      <a:tailEnd type="none" w="med" len="med"/>
                    </a:lnL>
                    <a:lnR w="9525" cap="flat" cmpd="sng" algn="ctr">
                      <a:solidFill>
                        <a:srgbClr val="262C2F"/>
                      </a:solidFill>
                      <a:prstDash val="solid"/>
                      <a:round/>
                      <a:headEnd type="none" w="med" len="med"/>
                      <a:tailEnd type="none" w="med" len="med"/>
                    </a:lnR>
                    <a:lnT w="9525" cap="flat" cmpd="sng" algn="ctr">
                      <a:solidFill>
                        <a:srgbClr val="262C2F"/>
                      </a:solidFill>
                      <a:prstDash val="solid"/>
                      <a:round/>
                      <a:headEnd type="none" w="med" len="med"/>
                      <a:tailEnd type="none" w="med" len="med"/>
                    </a:lnT>
                    <a:lnB w="9525" cap="flat" cmpd="sng" algn="ctr">
                      <a:solidFill>
                        <a:srgbClr val="262C2F"/>
                      </a:solidFill>
                      <a:prstDash val="solid"/>
                      <a:round/>
                      <a:headEnd type="none" w="med" len="med"/>
                      <a:tailEnd type="none" w="med" len="med"/>
                    </a:lnB>
                    <a:solidFill>
                      <a:schemeClr val="tx2"/>
                    </a:solidFill>
                  </a:tcPr>
                </a:tc>
                <a:tc>
                  <a:txBody>
                    <a:bodyPr/>
                    <a:lstStyle/>
                    <a:p>
                      <a:pPr algn="r" indent="0" marL="0">
                        <a:buNone/>
                      </a:pPr>
                      <a:r>
                        <a:rPr lang="en-US" sz="1400" dirty="0">
                          <a:solidFill>
                            <a:schemeClr val="bg1"/>
                          </a:solidFill>
                          <a:latin typeface="IBM Plex Mono" pitchFamily="34" charset="0"/>
                          <a:ea typeface="IBM Plex Mono" pitchFamily="34" charset="-122"/>
                          <a:cs typeface="IBM Plex Mono" pitchFamily="34" charset="-120"/>
                        </a:rPr>
                        <a:t>147</a:t>
                      </a:r>
                      <a:endParaRPr lang="en-US" sz="1400" dirty="0">
                        <a:latin typeface="IBM Plex Mono" charset="0"/>
                        <a:ea typeface="IBM Plex Mono" charset="0"/>
                        <a:cs typeface="IBM Plex Mono" charset="0"/>
                      </a:endParaRPr>
                    </a:p>
                  </a:txBody>
                  <a:tcPr marL="109728" marR="109728" marT="45720" marB="45720">
                    <a:lnL w="9525" cap="flat" cmpd="sng" algn="ctr">
                      <a:solidFill>
                        <a:srgbClr val="262C2F"/>
                      </a:solidFill>
                      <a:prstDash val="solid"/>
                      <a:round/>
                      <a:headEnd type="none" w="med" len="med"/>
                      <a:tailEnd type="none" w="med" len="med"/>
                    </a:lnL>
                    <a:lnR w="9525" cap="flat" cmpd="sng" algn="ctr">
                      <a:solidFill>
                        <a:srgbClr val="262C2F"/>
                      </a:solidFill>
                      <a:prstDash val="solid"/>
                      <a:round/>
                      <a:headEnd type="none" w="med" len="med"/>
                      <a:tailEnd type="none" w="med" len="med"/>
                    </a:lnR>
                    <a:lnT w="9525" cap="flat" cmpd="sng" algn="ctr">
                      <a:solidFill>
                        <a:srgbClr val="262C2F"/>
                      </a:solidFill>
                      <a:prstDash val="solid"/>
                      <a:round/>
                      <a:headEnd type="none" w="med" len="med"/>
                      <a:tailEnd type="none" w="med" len="med"/>
                    </a:lnT>
                    <a:lnB w="9525" cap="flat" cmpd="sng" algn="ctr">
                      <a:solidFill>
                        <a:srgbClr val="262C2F"/>
                      </a:solidFill>
                      <a:prstDash val="solid"/>
                      <a:round/>
                      <a:headEnd type="none" w="med" len="med"/>
                      <a:tailEnd type="none" w="med" len="med"/>
                    </a:lnB>
                    <a:solidFill>
                      <a:schemeClr val="tx2"/>
                    </a:solidFill>
                  </a:tcPr>
                </a:tc>
                <a:tc>
                  <a:txBody>
                    <a:bodyPr/>
                    <a:lstStyle/>
                    <a:p>
                      <a:pPr algn="r" indent="0" marL="0">
                        <a:buNone/>
                      </a:pPr>
                      <a:r>
                        <a:rPr lang="en-US" sz="1400" dirty="0">
                          <a:solidFill>
                            <a:schemeClr val="bg1"/>
                          </a:solidFill>
                          <a:latin typeface="IBM Plex Mono" pitchFamily="34" charset="0"/>
                          <a:ea typeface="IBM Plex Mono" pitchFamily="34" charset="-122"/>
                          <a:cs typeface="IBM Plex Mono" pitchFamily="34" charset="-120"/>
                        </a:rPr>
                        <a:t>100%</a:t>
                      </a:r>
                      <a:endParaRPr lang="en-US" sz="1400" dirty="0">
                        <a:latin typeface="IBM Plex Mono" charset="0"/>
                        <a:ea typeface="IBM Plex Mono" charset="0"/>
                        <a:cs typeface="IBM Plex Mono" charset="0"/>
                      </a:endParaRPr>
                    </a:p>
                  </a:txBody>
                  <a:tcPr marL="109728" marR="109728" marT="45720" marB="45720">
                    <a:lnL w="9525" cap="flat" cmpd="sng" algn="ctr">
                      <a:solidFill>
                        <a:srgbClr val="262C2F"/>
                      </a:solidFill>
                      <a:prstDash val="solid"/>
                      <a:round/>
                      <a:headEnd type="none" w="med" len="med"/>
                      <a:tailEnd type="none" w="med" len="med"/>
                    </a:lnL>
                    <a:lnR w="9525" cap="flat" cmpd="sng" algn="ctr">
                      <a:solidFill>
                        <a:srgbClr val="262C2F"/>
                      </a:solidFill>
                      <a:prstDash val="solid"/>
                      <a:round/>
                      <a:headEnd type="none" w="med" len="med"/>
                      <a:tailEnd type="none" w="med" len="med"/>
                    </a:lnR>
                    <a:lnT w="9525" cap="flat" cmpd="sng" algn="ctr">
                      <a:solidFill>
                        <a:srgbClr val="262C2F"/>
                      </a:solidFill>
                      <a:prstDash val="solid"/>
                      <a:round/>
                      <a:headEnd type="none" w="med" len="med"/>
                      <a:tailEnd type="none" w="med" len="med"/>
                    </a:lnT>
                    <a:lnB w="9525" cap="flat" cmpd="sng" algn="ctr">
                      <a:solidFill>
                        <a:srgbClr val="262C2F"/>
                      </a:solidFill>
                      <a:prstDash val="solid"/>
                      <a:round/>
                      <a:headEnd type="none" w="med" len="med"/>
                      <a:tailEnd type="none" w="med" len="med"/>
                    </a:lnB>
                    <a:solidFill>
                      <a:schemeClr val="tx2"/>
                    </a:solidFill>
                  </a:tcPr>
                </a:tc>
                <a:tc>
                  <a:txBody>
                    <a:bodyPr/>
                    <a:lstStyle/>
                    <a:p>
                      <a:pPr algn="r" indent="0" marL="0">
                        <a:buNone/>
                      </a:pPr>
                      <a:r>
                        <a:rPr lang="en-US" sz="1400" dirty="0">
                          <a:solidFill>
                            <a:schemeClr val="bg1"/>
                          </a:solidFill>
                          <a:latin typeface="IBM Plex Mono" pitchFamily="34" charset="0"/>
                          <a:ea typeface="IBM Plex Mono" pitchFamily="34" charset="-122"/>
                          <a:cs typeface="IBM Plex Mono" pitchFamily="34" charset="-120"/>
                        </a:rPr>
                        <a:t>95%</a:t>
                      </a:r>
                      <a:endParaRPr lang="en-US" sz="1400" dirty="0">
                        <a:latin typeface="IBM Plex Mono" charset="0"/>
                        <a:ea typeface="IBM Plex Mono" charset="0"/>
                        <a:cs typeface="IBM Plex Mono" charset="0"/>
                      </a:endParaRPr>
                    </a:p>
                  </a:txBody>
                  <a:tcPr marL="109728" marR="109728" marT="45720" marB="45720">
                    <a:lnL w="9525" cap="flat" cmpd="sng" algn="ctr">
                      <a:solidFill>
                        <a:srgbClr val="262C2F"/>
                      </a:solidFill>
                      <a:prstDash val="solid"/>
                      <a:round/>
                      <a:headEnd type="none" w="med" len="med"/>
                      <a:tailEnd type="none" w="med" len="med"/>
                    </a:lnL>
                    <a:lnR w="9525" cap="flat" cmpd="sng" algn="ctr">
                      <a:solidFill>
                        <a:srgbClr val="262C2F"/>
                      </a:solidFill>
                      <a:prstDash val="solid"/>
                      <a:round/>
                      <a:headEnd type="none" w="med" len="med"/>
                      <a:tailEnd type="none" w="med" len="med"/>
                    </a:lnR>
                    <a:lnT w="9525" cap="flat" cmpd="sng" algn="ctr">
                      <a:solidFill>
                        <a:srgbClr val="262C2F"/>
                      </a:solidFill>
                      <a:prstDash val="solid"/>
                      <a:round/>
                      <a:headEnd type="none" w="med" len="med"/>
                      <a:tailEnd type="none" w="med" len="med"/>
                    </a:lnT>
                    <a:lnB w="9525" cap="flat" cmpd="sng" algn="ctr">
                      <a:solidFill>
                        <a:srgbClr val="262C2F"/>
                      </a:solidFill>
                      <a:prstDash val="solid"/>
                      <a:round/>
                      <a:headEnd type="none" w="med" len="med"/>
                      <a:tailEnd type="none" w="med" len="med"/>
                    </a:lnB>
                    <a:solidFill>
                      <a:schemeClr val="tx2"/>
                    </a:solidFill>
                  </a:tcPr>
                </a:tc>
              </a:tr>
            </a:tbl>
          </a:graphicData>
        </a:graphic>
      </p:graphicFrame>
      <p:sp>
        <p:nvSpPr>
          <p:cNvPr id="6" name="Text 2"/>
          <p:cNvSpPr txBox="1"/>
          <p:nvPr/>
        </p:nvSpPr>
        <p:spPr>
          <a:xfrm>
            <a:off x="6172200" y="4754880"/>
            <a:ext cx="5440680" cy="1097280"/>
          </a:xfrm>
          <a:prstGeom prst="rect">
            <a:avLst/>
          </a:prstGeom>
          <a:noFill/>
          <a:ln/>
        </p:spPr>
        <p:txBody>
          <a:bodyPr wrap="square" lIns="0" tIns="0" rIns="0" bIns="0" rtlCol="0" anchor="t"/>
          <a:lstStyle/>
          <a:p>
            <a:pPr indent="0" marL="0">
              <a:buNone/>
            </a:pPr>
            <a:r>
              <a:rPr lang="en-US" sz="1400" dirty="0">
                <a:solidFill>
                  <a:schemeClr val="bg2"/>
                </a:solidFill>
              </a:rPr>
              <a:t>We chose class-balanced weighting because it scored best on calibration data, before looking at the test set. Every rare attack raised an alert, but some only as Needs review: with a handful of training examples the model is not sure enough to name them.</a:t>
            </a:r>
            <a:endParaRPr lang="en-US" sz="1400" dirty="0"/>
          </a:p>
        </p:txBody>
      </p:sp>
      <p:sp>
        <p:nvSpPr>
          <p:cNvPr id="7" name="Text 3"/>
          <p:cNvSpPr txBox="1"/>
          <p:nvPr/>
        </p:nvSpPr>
        <p:spPr>
          <a:xfrm>
            <a:off x="548640" y="6053328"/>
            <a:ext cx="11094415" cy="292608"/>
          </a:xfrm>
          <a:prstGeom prst="rect">
            <a:avLst/>
          </a:prstGeom>
          <a:noFill/>
          <a:ln/>
        </p:spPr>
        <p:txBody>
          <a:bodyPr wrap="square" lIns="0" tIns="0" rIns="0" bIns="0" rtlCol="0" anchor="b"/>
          <a:lstStyle/>
          <a:p>
            <a:pPr indent="0" marL="0">
              <a:buNone/>
            </a:pPr>
            <a:r>
              <a:rPr lang="en-US" sz="1000" dirty="0">
                <a:solidFill>
                  <a:srgbClr val="7D8689"/>
                </a:solidFill>
              </a:rPr>
              <a:t>Numbers: ml/reports/ablation.json (calibration split) and final.json (test split). Alerted: named as an attack or sent to Needs review. Named right: the single correct attack type.</a:t>
            </a:r>
            <a:endParaRPr lang="en-US" sz="10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D8689"/>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822960"/>
          </a:xfrm>
          <a:prstGeom prst="rect">
            <a:avLst/>
          </a:prstGeom>
          <a:noFill/>
          <a:ln/>
        </p:spPr>
        <p:txBody>
          <a:bodyPr wrap="square" lIns="0" tIns="0" rIns="0" bIns="0" rtlCol="0" anchor="t"/>
          <a:lstStyle/>
          <a:p>
            <a:pPr algn="l" indent="0" marL="0">
              <a:buNone/>
            </a:pPr>
            <a:r>
              <a:rPr lang="en-US" sz="3000" b="1" dirty="0">
                <a:solidFill>
                  <a:schemeClr val="bg1"/>
                </a:solidFill>
              </a:rPr>
              <a:t>It says “I'm not sure” instead of staying silent</a:t>
            </a:r>
            <a:endParaRPr lang="en-US" sz="3000" dirty="0"/>
          </a:p>
        </p:txBody>
      </p:sp>
      <p:sp>
        <p:nvSpPr>
          <p:cNvPr id="3" name="Text 1"/>
          <p:cNvSpPr txBox="1"/>
          <p:nvPr/>
        </p:nvSpPr>
        <p:spPr>
          <a:xfrm>
            <a:off x="548640" y="1371600"/>
            <a:ext cx="5120640" cy="2743200"/>
          </a:xfrm>
          <a:prstGeom prst="rect">
            <a:avLst/>
          </a:prstGeom>
          <a:noFill/>
          <a:ln/>
        </p:spPr>
        <p:txBody>
          <a:bodyPr wrap="square" lIns="0" tIns="0" rIns="0" bIns="0" rtlCol="0" anchor="t"/>
          <a:lstStyle/>
          <a:p>
            <a:pPr indent="0" marL="0">
              <a:lnSpc>
                <a:spcPct val="115000"/>
              </a:lnSpc>
              <a:buNone/>
            </a:pPr>
            <a:r>
              <a:rPr lang="en-US" sz="1600" dirty="0">
                <a:solidFill>
                  <a:schemeClr val="bg2"/>
                </a:solidFill>
              </a:rPr>
              <a:t>A normal classifier must pick a label, so an attack it has never seen is quietly called normal. Nightwatch uses conformal prediction: it lists every label it cannot rule out at 95% confidence. One attack label means a recognized attack. Anything ambiguous goes to Needs review. Only flows that look clearly normal are cleared.</a:t>
            </a:r>
            <a:endParaRPr lang="en-US" sz="1600" dirty="0"/>
          </a:p>
        </p:txBody>
      </p:sp>
      <p:sp>
        <p:nvSpPr>
          <p:cNvPr id="4" name="verdict Recognized attack"/>
          <p:cNvSpPr/>
          <p:nvPr/>
        </p:nvSpPr>
        <p:spPr>
          <a:xfrm>
            <a:off x="548640" y="4242816"/>
            <a:ext cx="182880" cy="182880"/>
          </a:xfrm>
          <a:prstGeom prst="ellipse">
            <a:avLst/>
          </a:prstGeom>
          <a:solidFill>
            <a:schemeClr val="accent1"/>
          </a:solidFill>
          <a:ln w="12700">
            <a:solidFill>
              <a:schemeClr val="accent1"/>
            </a:solidFill>
            <a:prstDash val="solid"/>
          </a:ln>
        </p:spPr>
      </p:sp>
      <p:sp>
        <p:nvSpPr>
          <p:cNvPr id="5" name="Text 3"/>
          <p:cNvSpPr txBox="1"/>
          <p:nvPr/>
        </p:nvSpPr>
        <p:spPr>
          <a:xfrm>
            <a:off x="868680" y="4160520"/>
            <a:ext cx="1920240" cy="365760"/>
          </a:xfrm>
          <a:prstGeom prst="rect">
            <a:avLst/>
          </a:prstGeom>
          <a:noFill/>
          <a:ln/>
        </p:spPr>
        <p:txBody>
          <a:bodyPr wrap="square" lIns="0" tIns="0" rIns="0" bIns="0" rtlCol="0" anchor="t"/>
          <a:lstStyle/>
          <a:p>
            <a:pPr indent="0" marL="0">
              <a:buNone/>
            </a:pPr>
            <a:r>
              <a:rPr lang="en-US" sz="1500" b="1" dirty="0">
                <a:solidFill>
                  <a:schemeClr val="bg1"/>
                </a:solidFill>
              </a:rPr>
              <a:t>Recognized attack</a:t>
            </a:r>
            <a:endParaRPr lang="en-US" sz="1500" dirty="0"/>
          </a:p>
        </p:txBody>
      </p:sp>
      <p:sp>
        <p:nvSpPr>
          <p:cNvPr id="6" name="Text 4"/>
          <p:cNvSpPr txBox="1"/>
          <p:nvPr/>
        </p:nvSpPr>
        <p:spPr>
          <a:xfrm>
            <a:off x="2788920" y="4160520"/>
            <a:ext cx="3200400" cy="365760"/>
          </a:xfrm>
          <a:prstGeom prst="rect">
            <a:avLst/>
          </a:prstGeom>
          <a:noFill/>
          <a:ln/>
        </p:spPr>
        <p:txBody>
          <a:bodyPr wrap="square" lIns="0" tIns="0" rIns="0" bIns="0" rtlCol="0" anchor="t"/>
          <a:lstStyle/>
          <a:p>
            <a:pPr indent="0" marL="0">
              <a:buNone/>
            </a:pPr>
            <a:r>
              <a:rPr lang="en-US" sz="1400" dirty="0">
                <a:solidFill>
                  <a:schemeClr val="bg2"/>
                </a:solidFill>
              </a:rPr>
              <a:t>One attack type, 95% confidence</a:t>
            </a:r>
            <a:endParaRPr lang="en-US" sz="1400" dirty="0"/>
          </a:p>
        </p:txBody>
      </p:sp>
      <p:sp>
        <p:nvSpPr>
          <p:cNvPr id="7" name="verdict Needs review"/>
          <p:cNvSpPr/>
          <p:nvPr/>
        </p:nvSpPr>
        <p:spPr>
          <a:xfrm>
            <a:off x="548640" y="4809744"/>
            <a:ext cx="182880" cy="182880"/>
          </a:xfrm>
          <a:prstGeom prst="ellipse">
            <a:avLst/>
          </a:prstGeom>
          <a:solidFill>
            <a:schemeClr val="accent2"/>
          </a:solidFill>
          <a:ln w="12700">
            <a:solidFill>
              <a:schemeClr val="accent2"/>
            </a:solidFill>
            <a:prstDash val="solid"/>
          </a:ln>
        </p:spPr>
      </p:sp>
      <p:sp>
        <p:nvSpPr>
          <p:cNvPr id="8" name="Text 6"/>
          <p:cNvSpPr txBox="1"/>
          <p:nvPr/>
        </p:nvSpPr>
        <p:spPr>
          <a:xfrm>
            <a:off x="868680" y="4727448"/>
            <a:ext cx="1920240" cy="365760"/>
          </a:xfrm>
          <a:prstGeom prst="rect">
            <a:avLst/>
          </a:prstGeom>
          <a:noFill/>
          <a:ln/>
        </p:spPr>
        <p:txBody>
          <a:bodyPr wrap="square" lIns="0" tIns="0" rIns="0" bIns="0" rtlCol="0" anchor="t"/>
          <a:lstStyle/>
          <a:p>
            <a:pPr indent="0" marL="0">
              <a:buNone/>
            </a:pPr>
            <a:r>
              <a:rPr lang="en-US" sz="1500" b="1" dirty="0">
                <a:solidFill>
                  <a:schemeClr val="bg1"/>
                </a:solidFill>
              </a:rPr>
              <a:t>Needs review</a:t>
            </a:r>
            <a:endParaRPr lang="en-US" sz="1500" dirty="0"/>
          </a:p>
        </p:txBody>
      </p:sp>
      <p:sp>
        <p:nvSpPr>
          <p:cNvPr id="9" name="Text 7"/>
          <p:cNvSpPr txBox="1"/>
          <p:nvPr/>
        </p:nvSpPr>
        <p:spPr>
          <a:xfrm>
            <a:off x="2788920" y="4727448"/>
            <a:ext cx="3200400" cy="365760"/>
          </a:xfrm>
          <a:prstGeom prst="rect">
            <a:avLst/>
          </a:prstGeom>
          <a:noFill/>
          <a:ln/>
        </p:spPr>
        <p:txBody>
          <a:bodyPr wrap="square" lIns="0" tIns="0" rIns="0" bIns="0" rtlCol="0" anchor="t"/>
          <a:lstStyle/>
          <a:p>
            <a:pPr indent="0" marL="0">
              <a:buNone/>
            </a:pPr>
            <a:r>
              <a:rPr lang="en-US" sz="1400" dirty="0">
                <a:solidFill>
                  <a:schemeClr val="bg2"/>
                </a:solidFill>
              </a:rPr>
              <a:t>Neither a known attack nor normal</a:t>
            </a:r>
            <a:endParaRPr lang="en-US" sz="1400" dirty="0"/>
          </a:p>
        </p:txBody>
      </p:sp>
      <p:sp>
        <p:nvSpPr>
          <p:cNvPr id="10" name="verdict Cleared"/>
          <p:cNvSpPr/>
          <p:nvPr/>
        </p:nvSpPr>
        <p:spPr>
          <a:xfrm>
            <a:off x="548640" y="5376672"/>
            <a:ext cx="182880" cy="182880"/>
          </a:xfrm>
          <a:prstGeom prst="ellipse">
            <a:avLst/>
          </a:prstGeom>
          <a:solidFill>
            <a:schemeClr val="bg2"/>
          </a:solidFill>
          <a:ln w="12700">
            <a:solidFill>
              <a:schemeClr val="bg2"/>
            </a:solidFill>
            <a:prstDash val="solid"/>
          </a:ln>
        </p:spPr>
      </p:sp>
      <p:sp>
        <p:nvSpPr>
          <p:cNvPr id="11" name="Text 9"/>
          <p:cNvSpPr txBox="1"/>
          <p:nvPr/>
        </p:nvSpPr>
        <p:spPr>
          <a:xfrm>
            <a:off x="868680" y="5294376"/>
            <a:ext cx="1920240" cy="365760"/>
          </a:xfrm>
          <a:prstGeom prst="rect">
            <a:avLst/>
          </a:prstGeom>
          <a:noFill/>
          <a:ln/>
        </p:spPr>
        <p:txBody>
          <a:bodyPr wrap="square" lIns="0" tIns="0" rIns="0" bIns="0" rtlCol="0" anchor="t"/>
          <a:lstStyle/>
          <a:p>
            <a:pPr indent="0" marL="0">
              <a:buNone/>
            </a:pPr>
            <a:r>
              <a:rPr lang="en-US" sz="1500" b="1" dirty="0">
                <a:solidFill>
                  <a:schemeClr val="bg1"/>
                </a:solidFill>
              </a:rPr>
              <a:t>Cleared</a:t>
            </a:r>
            <a:endParaRPr lang="en-US" sz="1500" dirty="0"/>
          </a:p>
        </p:txBody>
      </p:sp>
      <p:sp>
        <p:nvSpPr>
          <p:cNvPr id="12" name="Text 10"/>
          <p:cNvSpPr txBox="1"/>
          <p:nvPr/>
        </p:nvSpPr>
        <p:spPr>
          <a:xfrm>
            <a:off x="2788920" y="5294376"/>
            <a:ext cx="3200400" cy="365760"/>
          </a:xfrm>
          <a:prstGeom prst="rect">
            <a:avLst/>
          </a:prstGeom>
          <a:noFill/>
          <a:ln/>
        </p:spPr>
        <p:txBody>
          <a:bodyPr wrap="square" lIns="0" tIns="0" rIns="0" bIns="0" rtlCol="0" anchor="t"/>
          <a:lstStyle/>
          <a:p>
            <a:pPr indent="0" marL="0">
              <a:buNone/>
            </a:pPr>
            <a:r>
              <a:rPr lang="en-US" sz="1400" dirty="0">
                <a:solidFill>
                  <a:schemeClr val="bg2"/>
                </a:solidFill>
              </a:rPr>
              <a:t>Only normal fits</a:t>
            </a:r>
            <a:endParaRPr lang="en-US" sz="1400" dirty="0"/>
          </a:p>
        </p:txBody>
      </p:sp>
      <p:sp>
        <p:nvSpPr>
          <p:cNvPr id="13" name="result 1"/>
          <p:cNvSpPr/>
          <p:nvPr/>
        </p:nvSpPr>
        <p:spPr>
          <a:xfrm>
            <a:off x="6172200" y="1371600"/>
            <a:ext cx="5440680" cy="1325880"/>
          </a:xfrm>
          <a:prstGeom prst="roundRect">
            <a:avLst>
              <a:gd name="adj" fmla="val 5517"/>
            </a:avLst>
          </a:prstGeom>
          <a:solidFill>
            <a:schemeClr val="tx2"/>
          </a:solidFill>
          <a:ln w="9525">
            <a:solidFill>
              <a:srgbClr val="262C2F"/>
            </a:solidFill>
            <a:prstDash val="solid"/>
          </a:ln>
        </p:spPr>
      </p:sp>
      <p:sp>
        <p:nvSpPr>
          <p:cNvPr id="14" name="Text 12"/>
          <p:cNvSpPr txBox="1"/>
          <p:nvPr/>
        </p:nvSpPr>
        <p:spPr>
          <a:xfrm>
            <a:off x="6446520" y="1627632"/>
            <a:ext cx="2377440" cy="822960"/>
          </a:xfrm>
          <a:prstGeom prst="rect">
            <a:avLst/>
          </a:prstGeom>
          <a:noFill/>
          <a:ln/>
        </p:spPr>
        <p:txBody>
          <a:bodyPr wrap="square" lIns="0" tIns="0" rIns="0" bIns="0" rtlCol="0" anchor="ctr"/>
          <a:lstStyle/>
          <a:p>
            <a:pPr indent="0" marL="0">
              <a:buNone/>
            </a:pPr>
            <a:r>
              <a:rPr lang="en-US" sz="3600" b="1" dirty="0">
                <a:solidFill>
                  <a:schemeClr val="accent1"/>
                </a:solidFill>
              </a:rPr>
              <a:t>99.96%</a:t>
            </a:r>
            <a:endParaRPr lang="en-US" sz="3600" dirty="0"/>
          </a:p>
        </p:txBody>
      </p:sp>
      <p:sp>
        <p:nvSpPr>
          <p:cNvPr id="15" name="Text 13"/>
          <p:cNvSpPr txBox="1"/>
          <p:nvPr/>
        </p:nvSpPr>
        <p:spPr>
          <a:xfrm>
            <a:off x="8915400" y="1627632"/>
            <a:ext cx="2514600" cy="822960"/>
          </a:xfrm>
          <a:prstGeom prst="rect">
            <a:avLst/>
          </a:prstGeom>
          <a:noFill/>
          <a:ln/>
        </p:spPr>
        <p:txBody>
          <a:bodyPr wrap="square" lIns="0" tIns="0" rIns="0" bIns="0" rtlCol="0" anchor="ctr"/>
          <a:lstStyle/>
          <a:p>
            <a:pPr indent="0" marL="0">
              <a:buNone/>
            </a:pPr>
            <a:r>
              <a:rPr lang="en-US" sz="1400" dirty="0">
                <a:solidFill>
                  <a:schemeClr val="bg2"/>
                </a:solidFill>
              </a:rPr>
              <a:t>of attack flows in the test set raised an alert</a:t>
            </a:r>
            <a:endParaRPr lang="en-US" sz="1400" dirty="0"/>
          </a:p>
        </p:txBody>
      </p:sp>
      <p:sp>
        <p:nvSpPr>
          <p:cNvPr id="16" name="result 2"/>
          <p:cNvSpPr/>
          <p:nvPr/>
        </p:nvSpPr>
        <p:spPr>
          <a:xfrm>
            <a:off x="6172200" y="2852928"/>
            <a:ext cx="5440680" cy="1325880"/>
          </a:xfrm>
          <a:prstGeom prst="roundRect">
            <a:avLst>
              <a:gd name="adj" fmla="val 5517"/>
            </a:avLst>
          </a:prstGeom>
          <a:solidFill>
            <a:schemeClr val="tx2"/>
          </a:solidFill>
          <a:ln w="9525">
            <a:solidFill>
              <a:srgbClr val="262C2F"/>
            </a:solidFill>
            <a:prstDash val="solid"/>
          </a:ln>
        </p:spPr>
      </p:sp>
      <p:sp>
        <p:nvSpPr>
          <p:cNvPr id="17" name="Text 15"/>
          <p:cNvSpPr txBox="1"/>
          <p:nvPr/>
        </p:nvSpPr>
        <p:spPr>
          <a:xfrm>
            <a:off x="6446520" y="3108960"/>
            <a:ext cx="2377440" cy="822960"/>
          </a:xfrm>
          <a:prstGeom prst="rect">
            <a:avLst/>
          </a:prstGeom>
          <a:noFill/>
          <a:ln/>
        </p:spPr>
        <p:txBody>
          <a:bodyPr wrap="square" lIns="0" tIns="0" rIns="0" bIns="0" rtlCol="0" anchor="ctr"/>
          <a:lstStyle/>
          <a:p>
            <a:pPr indent="0" marL="0">
              <a:buNone/>
            </a:pPr>
            <a:r>
              <a:rPr lang="en-US" sz="3600" b="1" dirty="0">
                <a:solidFill>
                  <a:schemeClr val="bg1"/>
                </a:solidFill>
              </a:rPr>
              <a:t>0.42%</a:t>
            </a:r>
            <a:endParaRPr lang="en-US" sz="3600" dirty="0"/>
          </a:p>
        </p:txBody>
      </p:sp>
      <p:sp>
        <p:nvSpPr>
          <p:cNvPr id="18" name="Text 16"/>
          <p:cNvSpPr txBox="1"/>
          <p:nvPr/>
        </p:nvSpPr>
        <p:spPr>
          <a:xfrm>
            <a:off x="8915400" y="3108960"/>
            <a:ext cx="2514600" cy="822960"/>
          </a:xfrm>
          <a:prstGeom prst="rect">
            <a:avLst/>
          </a:prstGeom>
          <a:noFill/>
          <a:ln/>
        </p:spPr>
        <p:txBody>
          <a:bodyPr wrap="square" lIns="0" tIns="0" rIns="0" bIns="0" rtlCol="0" anchor="ctr"/>
          <a:lstStyle/>
          <a:p>
            <a:pPr indent="0" marL="0">
              <a:buNone/>
            </a:pPr>
            <a:r>
              <a:rPr lang="en-US" sz="1400" dirty="0">
                <a:solidFill>
                  <a:schemeClr val="bg2"/>
                </a:solidFill>
              </a:rPr>
              <a:t>of normal flows raised a false alert</a:t>
            </a:r>
            <a:endParaRPr lang="en-US" sz="1400" dirty="0"/>
          </a:p>
        </p:txBody>
      </p:sp>
      <p:sp>
        <p:nvSpPr>
          <p:cNvPr id="19" name="result 3"/>
          <p:cNvSpPr/>
          <p:nvPr/>
        </p:nvSpPr>
        <p:spPr>
          <a:xfrm>
            <a:off x="6172200" y="4334256"/>
            <a:ext cx="5440680" cy="1325880"/>
          </a:xfrm>
          <a:prstGeom prst="roundRect">
            <a:avLst>
              <a:gd name="adj" fmla="val 5517"/>
            </a:avLst>
          </a:prstGeom>
          <a:solidFill>
            <a:schemeClr val="tx2"/>
          </a:solidFill>
          <a:ln w="9525">
            <a:solidFill>
              <a:srgbClr val="262C2F"/>
            </a:solidFill>
            <a:prstDash val="solid"/>
          </a:ln>
        </p:spPr>
      </p:sp>
      <p:sp>
        <p:nvSpPr>
          <p:cNvPr id="20" name="Text 18"/>
          <p:cNvSpPr txBox="1"/>
          <p:nvPr/>
        </p:nvSpPr>
        <p:spPr>
          <a:xfrm>
            <a:off x="6446520" y="4590288"/>
            <a:ext cx="2377440" cy="822960"/>
          </a:xfrm>
          <a:prstGeom prst="rect">
            <a:avLst/>
          </a:prstGeom>
          <a:noFill/>
          <a:ln/>
        </p:spPr>
        <p:txBody>
          <a:bodyPr wrap="square" lIns="0" tIns="0" rIns="0" bIns="0" rtlCol="0" anchor="ctr"/>
          <a:lstStyle/>
          <a:p>
            <a:pPr indent="0" marL="0">
              <a:buNone/>
            </a:pPr>
            <a:r>
              <a:rPr lang="en-US" sz="3600" b="1" dirty="0">
                <a:solidFill>
                  <a:schemeClr val="accent3"/>
                </a:solidFill>
              </a:rPr>
              <a:t>0.039%</a:t>
            </a:r>
            <a:endParaRPr lang="en-US" sz="3600" dirty="0"/>
          </a:p>
        </p:txBody>
      </p:sp>
      <p:sp>
        <p:nvSpPr>
          <p:cNvPr id="21" name="Text 19"/>
          <p:cNvSpPr txBox="1"/>
          <p:nvPr/>
        </p:nvSpPr>
        <p:spPr>
          <a:xfrm>
            <a:off x="8915400" y="4590288"/>
            <a:ext cx="2514600" cy="822960"/>
          </a:xfrm>
          <a:prstGeom prst="rect">
            <a:avLst/>
          </a:prstGeom>
          <a:noFill/>
          <a:ln/>
        </p:spPr>
        <p:txBody>
          <a:bodyPr wrap="square" lIns="0" tIns="0" rIns="0" bIns="0" rtlCol="0" anchor="ctr"/>
          <a:lstStyle/>
          <a:p>
            <a:pPr indent="0" marL="0">
              <a:buNone/>
            </a:pPr>
            <a:r>
              <a:rPr lang="en-US" sz="1400" dirty="0">
                <a:solidFill>
                  <a:schemeClr val="bg2"/>
                </a:solidFill>
              </a:rPr>
              <a:t>of attack flows were missed</a:t>
            </a:r>
            <a:endParaRPr lang="en-US" sz="1400" dirty="0"/>
          </a:p>
        </p:txBody>
      </p:sp>
      <p:sp>
        <p:nvSpPr>
          <p:cNvPr id="22" name="Text 20"/>
          <p:cNvSpPr txBox="1"/>
          <p:nvPr/>
        </p:nvSpPr>
        <p:spPr>
          <a:xfrm>
            <a:off x="548640" y="6053328"/>
            <a:ext cx="11094415" cy="292608"/>
          </a:xfrm>
          <a:prstGeom prst="rect">
            <a:avLst/>
          </a:prstGeom>
          <a:noFill/>
          <a:ln/>
        </p:spPr>
        <p:txBody>
          <a:bodyPr wrap="square" lIns="0" tIns="0" rIns="0" bIns="0" rtlCol="0" anchor="b"/>
          <a:lstStyle/>
          <a:p>
            <a:pPr indent="0" marL="0">
              <a:buNone/>
            </a:pPr>
            <a:r>
              <a:rPr lang="en-US" sz="1000" dirty="0">
                <a:solidFill>
                  <a:srgbClr val="7D8689"/>
                </a:solidFill>
              </a:rPr>
              <a:t>Test split: 393,993 held-out flows. Numbers: ml/reports/final.json. Method: split conformal prediction (Angelopoulos and Bates, 2021).</a:t>
            </a:r>
            <a:endParaRPr lang="en-US" sz="10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D8689"/>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822960"/>
          </a:xfrm>
          <a:prstGeom prst="rect">
            <a:avLst/>
          </a:prstGeom>
          <a:noFill/>
          <a:ln/>
        </p:spPr>
        <p:txBody>
          <a:bodyPr wrap="square" lIns="0" tIns="0" rIns="0" bIns="0" rtlCol="0" anchor="t"/>
          <a:lstStyle/>
          <a:p>
            <a:pPr algn="l" indent="0" marL="0">
              <a:buNone/>
            </a:pPr>
            <a:r>
              <a:rPr lang="en-US" sz="3000" b="1" dirty="0">
                <a:solidFill>
                  <a:schemeClr val="bg1"/>
                </a:solidFill>
              </a:rPr>
              <a:t>New attacks: what it catches and what it misses</a:t>
            </a:r>
            <a:endParaRPr lang="en-US" sz="3000" dirty="0"/>
          </a:p>
        </p:txBody>
      </p:sp>
      <p:graphicFrame>
        <p:nvGraphicFramePr>
          <p:cNvPr id="3" name="Chart 0" descr=""/>
          <p:cNvGraphicFramePr/>
          <p:nvPr/>
        </p:nvGraphicFramePr>
        <p:xfrm>
          <a:off x="548640" y="1325880"/>
          <a:ext cx="6400800" cy="457200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7269480" y="1371600"/>
            <a:ext cx="4343400" cy="365760"/>
          </a:xfrm>
          <a:prstGeom prst="rect">
            <a:avLst/>
          </a:prstGeom>
          <a:noFill/>
          <a:ln/>
        </p:spPr>
        <p:txBody>
          <a:bodyPr wrap="square" lIns="0" tIns="0" rIns="0" bIns="0" rtlCol="0" anchor="t"/>
          <a:lstStyle/>
          <a:p>
            <a:pPr indent="0" marL="0">
              <a:buNone/>
            </a:pPr>
            <a:r>
              <a:rPr lang="en-US" sz="1800" b="1" dirty="0">
                <a:solidFill>
                  <a:schemeClr val="accent1"/>
                </a:solidFill>
              </a:rPr>
              <a:t>Caught</a:t>
            </a:r>
            <a:endParaRPr lang="en-US" sz="1800" dirty="0"/>
          </a:p>
        </p:txBody>
      </p:sp>
      <p:sp>
        <p:nvSpPr>
          <p:cNvPr id="5" name="Text 2"/>
          <p:cNvSpPr txBox="1"/>
          <p:nvPr/>
        </p:nvSpPr>
        <p:spPr>
          <a:xfrm>
            <a:off x="7269480" y="1783080"/>
            <a:ext cx="4343400" cy="1097280"/>
          </a:xfrm>
          <a:prstGeom prst="rect">
            <a:avLst/>
          </a:prstGeom>
          <a:noFill/>
          <a:ln/>
        </p:spPr>
        <p:txBody>
          <a:bodyPr wrap="square" lIns="0" tIns="0" rIns="0" bIns="0" rtlCol="0" anchor="t"/>
          <a:lstStyle/>
          <a:p>
            <a:pPr indent="0" marL="0">
              <a:buNone/>
            </a:pPr>
            <a:r>
              <a:rPr lang="en-US" sz="1400" dirty="0">
                <a:solidFill>
                  <a:schemeClr val="bg2"/>
                </a:solidFill>
              </a:rPr>
              <a:t>Attacks that look structurally new: DDoS floods and the Heartbleed probe were flagged 100% of the time without ever being trained on.</a:t>
            </a:r>
            <a:endParaRPr lang="en-US" sz="1400" dirty="0"/>
          </a:p>
        </p:txBody>
      </p:sp>
      <p:sp>
        <p:nvSpPr>
          <p:cNvPr id="6" name="Text 3"/>
          <p:cNvSpPr txBox="1"/>
          <p:nvPr/>
        </p:nvSpPr>
        <p:spPr>
          <a:xfrm>
            <a:off x="7269480" y="3063240"/>
            <a:ext cx="4343400" cy="365760"/>
          </a:xfrm>
          <a:prstGeom prst="rect">
            <a:avLst/>
          </a:prstGeom>
          <a:noFill/>
          <a:ln/>
        </p:spPr>
        <p:txBody>
          <a:bodyPr wrap="square" lIns="0" tIns="0" rIns="0" bIns="0" rtlCol="0" anchor="t"/>
          <a:lstStyle/>
          <a:p>
            <a:pPr indent="0" marL="0">
              <a:buNone/>
            </a:pPr>
            <a:r>
              <a:rPr lang="en-US" sz="1800" b="1" dirty="0">
                <a:solidFill>
                  <a:schemeClr val="accent3"/>
                </a:solidFill>
              </a:rPr>
              <a:t>Missed</a:t>
            </a:r>
            <a:endParaRPr lang="en-US" sz="1800" dirty="0"/>
          </a:p>
        </p:txBody>
      </p:sp>
      <p:sp>
        <p:nvSpPr>
          <p:cNvPr id="7" name="Text 4"/>
          <p:cNvSpPr txBox="1"/>
          <p:nvPr/>
        </p:nvSpPr>
        <p:spPr>
          <a:xfrm>
            <a:off x="7269480" y="3474720"/>
            <a:ext cx="4343400" cy="1097280"/>
          </a:xfrm>
          <a:prstGeom prst="rect">
            <a:avLst/>
          </a:prstGeom>
          <a:noFill/>
          <a:ln/>
        </p:spPr>
        <p:txBody>
          <a:bodyPr wrap="square" lIns="0" tIns="0" rIns="0" bIns="0" rtlCol="0" anchor="t"/>
          <a:lstStyle/>
          <a:p>
            <a:pPr indent="0" marL="0">
              <a:buNone/>
            </a:pPr>
            <a:r>
              <a:rPr lang="en-US" sz="1400" dirty="0">
                <a:solidFill>
                  <a:schemeClr val="bg2"/>
                </a:solidFill>
              </a:rPr>
              <a:t>Attacks that imitate normal traffic: botnet check-ins, password guessing and port scans mostly passed as normal when their family was unseen.</a:t>
            </a:r>
            <a:endParaRPr lang="en-US" sz="1400" dirty="0"/>
          </a:p>
        </p:txBody>
      </p:sp>
      <p:sp>
        <p:nvSpPr>
          <p:cNvPr id="8" name="honesty"/>
          <p:cNvSpPr/>
          <p:nvPr/>
        </p:nvSpPr>
        <p:spPr>
          <a:xfrm>
            <a:off x="7269480" y="4709160"/>
            <a:ext cx="4343400" cy="1143000"/>
          </a:xfrm>
          <a:prstGeom prst="roundRect">
            <a:avLst>
              <a:gd name="adj" fmla="val 6400"/>
            </a:avLst>
          </a:prstGeom>
          <a:solidFill>
            <a:schemeClr val="tx2"/>
          </a:solidFill>
          <a:ln w="9525">
            <a:solidFill>
              <a:srgbClr val="262C2F"/>
            </a:solidFill>
            <a:prstDash val="solid"/>
          </a:ln>
        </p:spPr>
      </p:sp>
      <p:sp>
        <p:nvSpPr>
          <p:cNvPr id="9" name="Text 6"/>
          <p:cNvSpPr txBox="1"/>
          <p:nvPr/>
        </p:nvSpPr>
        <p:spPr>
          <a:xfrm>
            <a:off x="7498080" y="4846320"/>
            <a:ext cx="3886200" cy="868680"/>
          </a:xfrm>
          <a:prstGeom prst="rect">
            <a:avLst/>
          </a:prstGeom>
          <a:noFill/>
          <a:ln/>
        </p:spPr>
        <p:txBody>
          <a:bodyPr wrap="square" lIns="0" tIns="0" rIns="0" bIns="0" rtlCol="0" anchor="ctr"/>
          <a:lstStyle/>
          <a:p>
            <a:pPr indent="0" marL="0">
              <a:buNone/>
            </a:pPr>
            <a:r>
              <a:rPr lang="en-US" sz="1400" dirty="0">
                <a:solidFill>
                  <a:schemeClr val="bg1"/>
                </a:solidFill>
              </a:rPr>
              <a:t>We show this on the site and in the FAQ. No detector catches everything; overclaiming is how organizations get surprised.</a:t>
            </a:r>
            <a:endParaRPr lang="en-US" sz="1400" dirty="0"/>
          </a:p>
        </p:txBody>
      </p:sp>
      <p:sp>
        <p:nvSpPr>
          <p:cNvPr id="10" name="Text 7"/>
          <p:cNvSpPr txBox="1"/>
          <p:nvPr/>
        </p:nvSpPr>
        <p:spPr>
          <a:xfrm>
            <a:off x="548640" y="6053328"/>
            <a:ext cx="11094415" cy="292608"/>
          </a:xfrm>
          <a:prstGeom prst="rect">
            <a:avLst/>
          </a:prstGeom>
          <a:noFill/>
          <a:ln/>
        </p:spPr>
        <p:txBody>
          <a:bodyPr wrap="square" lIns="0" tIns="0" rIns="0" bIns="0" rtlCol="0" anchor="b"/>
          <a:lstStyle/>
          <a:p>
            <a:pPr indent="0" marL="0">
              <a:buNone/>
            </a:pPr>
            <a:r>
              <a:rPr lang="en-US" sz="1000" dirty="0">
                <a:solidFill>
                  <a:srgbClr val="7D8689"/>
                </a:solidFill>
              </a:rPr>
              <a:t>Leave-one-family-out test, model retrained eight times. Numbers: ml/reports/zero_day.json.</a:t>
            </a:r>
            <a:endParaRPr lang="en-US" sz="10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D8689"/>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822960"/>
          </a:xfrm>
          <a:prstGeom prst="rect">
            <a:avLst/>
          </a:prstGeom>
          <a:noFill/>
          <a:ln/>
        </p:spPr>
        <p:txBody>
          <a:bodyPr wrap="square" lIns="0" tIns="0" rIns="0" bIns="0" rtlCol="0" anchor="t"/>
          <a:lstStyle/>
          <a:p>
            <a:pPr algn="l" indent="0" marL="0">
              <a:buNone/>
            </a:pPr>
            <a:r>
              <a:rPr lang="en-US" sz="3000" b="1" dirty="0">
                <a:solidFill>
                  <a:schemeClr val="bg1"/>
                </a:solidFill>
              </a:rPr>
              <a:t>Thousands of alerts become a short, ranked list</a:t>
            </a:r>
            <a:endParaRPr lang="en-US" sz="3000" dirty="0"/>
          </a:p>
        </p:txBody>
      </p:sp>
      <p:sp>
        <p:nvSpPr>
          <p:cNvPr id="3" name="friday alerts value"/>
          <p:cNvSpPr txBox="1"/>
          <p:nvPr/>
        </p:nvSpPr>
        <p:spPr>
          <a:xfrm>
            <a:off x="548640" y="1371600"/>
            <a:ext cx="3291840" cy="731520"/>
          </a:xfrm>
          <a:prstGeom prst="rect">
            <a:avLst/>
          </a:prstGeom>
          <a:noFill/>
          <a:ln/>
        </p:spPr>
        <p:txBody>
          <a:bodyPr wrap="square" lIns="0" tIns="0" rIns="0" bIns="0" rtlCol="0" anchor="t"/>
          <a:lstStyle/>
          <a:p>
            <a:pPr indent="0" marL="0">
              <a:buNone/>
            </a:pPr>
            <a:r>
              <a:rPr lang="en-US" sz="4000" b="1" dirty="0">
                <a:solidFill>
                  <a:schemeClr val="bg1"/>
                </a:solidFill>
                <a:latin typeface="IBM Plex Sans" pitchFamily="34" charset="0"/>
                <a:ea typeface="IBM Plex Sans" pitchFamily="34" charset="-122"/>
                <a:cs typeface="IBM Plex Sans" pitchFamily="34" charset="-120"/>
              </a:rPr>
              <a:t>65,728</a:t>
            </a:r>
            <a:endParaRPr lang="en-US" sz="4000" dirty="0"/>
          </a:p>
        </p:txBody>
      </p:sp>
      <p:sp>
        <p:nvSpPr>
          <p:cNvPr id="4" name="friday alerts label"/>
          <p:cNvSpPr txBox="1"/>
          <p:nvPr/>
        </p:nvSpPr>
        <p:spPr>
          <a:xfrm>
            <a:off x="548640" y="2148840"/>
            <a:ext cx="3291840" cy="685800"/>
          </a:xfrm>
          <a:prstGeom prst="rect">
            <a:avLst/>
          </a:prstGeom>
          <a:noFill/>
          <a:ln/>
        </p:spPr>
        <p:txBody>
          <a:bodyPr wrap="square" lIns="0" tIns="0" rIns="0" bIns="0" rtlCol="0" anchor="t"/>
          <a:lstStyle/>
          <a:p>
            <a:pPr indent="0" marL="0">
              <a:buNone/>
            </a:pPr>
            <a:r>
              <a:rPr lang="en-US" sz="1400" dirty="0">
                <a:solidFill>
                  <a:schemeClr val="bg2"/>
                </a:solidFill>
              </a:rPr>
              <a:t>alerts on the Friday replay</a:t>
            </a:r>
            <a:endParaRPr lang="en-US" sz="1400" dirty="0"/>
          </a:p>
        </p:txBody>
      </p:sp>
      <p:sp>
        <p:nvSpPr>
          <p:cNvPr id="5" name="friday incidents value"/>
          <p:cNvSpPr txBox="1"/>
          <p:nvPr/>
        </p:nvSpPr>
        <p:spPr>
          <a:xfrm>
            <a:off x="548640" y="2834640"/>
            <a:ext cx="3291840" cy="731520"/>
          </a:xfrm>
          <a:prstGeom prst="rect">
            <a:avLst/>
          </a:prstGeom>
          <a:noFill/>
          <a:ln/>
        </p:spPr>
        <p:txBody>
          <a:bodyPr wrap="square" lIns="0" tIns="0" rIns="0" bIns="0" rtlCol="0" anchor="t"/>
          <a:lstStyle/>
          <a:p>
            <a:pPr indent="0" marL="0">
              <a:buNone/>
            </a:pPr>
            <a:r>
              <a:rPr lang="en-US" sz="4000" b="1" dirty="0">
                <a:solidFill>
                  <a:schemeClr val="accent1"/>
                </a:solidFill>
                <a:latin typeface="IBM Plex Sans" pitchFamily="34" charset="0"/>
                <a:ea typeface="IBM Plex Sans" pitchFamily="34" charset="-122"/>
                <a:cs typeface="IBM Plex Sans" pitchFamily="34" charset="-120"/>
              </a:rPr>
              <a:t>126</a:t>
            </a:r>
            <a:endParaRPr lang="en-US" sz="4000" dirty="0"/>
          </a:p>
        </p:txBody>
      </p:sp>
      <p:sp>
        <p:nvSpPr>
          <p:cNvPr id="6" name="friday incidents label"/>
          <p:cNvSpPr txBox="1"/>
          <p:nvPr/>
        </p:nvSpPr>
        <p:spPr>
          <a:xfrm>
            <a:off x="548640" y="3611880"/>
            <a:ext cx="3291840" cy="685800"/>
          </a:xfrm>
          <a:prstGeom prst="rect">
            <a:avLst/>
          </a:prstGeom>
          <a:noFill/>
          <a:ln/>
        </p:spPr>
        <p:txBody>
          <a:bodyPr wrap="square" lIns="0" tIns="0" rIns="0" bIns="0" rtlCol="0" anchor="t"/>
          <a:lstStyle/>
          <a:p>
            <a:pPr indent="0" marL="0">
              <a:buNone/>
            </a:pPr>
            <a:r>
              <a:rPr lang="en-US" sz="1400" dirty="0">
                <a:solidFill>
                  <a:schemeClr val="bg2"/>
                </a:solidFill>
              </a:rPr>
              <a:t>incidents after grouping by source and target</a:t>
            </a:r>
            <a:endParaRPr lang="en-US" sz="1400" dirty="0"/>
          </a:p>
        </p:txBody>
      </p:sp>
      <p:sp>
        <p:nvSpPr>
          <p:cNvPr id="7" name="Text 5"/>
          <p:cNvSpPr txBox="1"/>
          <p:nvPr/>
        </p:nvSpPr>
        <p:spPr>
          <a:xfrm>
            <a:off x="548640" y="4343400"/>
            <a:ext cx="3474720" cy="1371600"/>
          </a:xfrm>
          <a:prstGeom prst="rect">
            <a:avLst/>
          </a:prstGeom>
          <a:noFill/>
          <a:ln/>
        </p:spPr>
        <p:txBody>
          <a:bodyPr wrap="square" lIns="0" tIns="0" rIns="0" bIns="0" rtlCol="0" anchor="t"/>
          <a:lstStyle/>
          <a:p>
            <a:pPr indent="0" marL="0">
              <a:buNone/>
            </a:pPr>
            <a:r>
              <a:rPr lang="en-US" sz="1400" dirty="0">
                <a:solidFill>
                  <a:schemeClr val="bg2"/>
                </a:solidFill>
              </a:rPr>
              <a:t>Across all five replayed days: 102,268 alerts became 471 incidents, 217 times fewer things to look at.</a:t>
            </a:r>
            <a:endParaRPr lang="en-US" sz="1400" dirty="0"/>
          </a:p>
        </p:txBody>
      </p:sp>
      <p:graphicFrame>
        <p:nvGraphicFramePr>
          <p:cNvPr id="8" name="Chart 0" descr=""/>
          <p:cNvGraphicFramePr/>
          <p:nvPr/>
        </p:nvGraphicFramePr>
        <p:xfrm>
          <a:off x="4343400" y="1325880"/>
          <a:ext cx="7269480" cy="4526280"/>
        </p:xfrm>
        <a:graphic xmlns:a="http://schemas.openxmlformats.org/drawingml/2006/main">
          <a:graphicData uri="http://schemas.openxmlformats.org/drawingml/2006/chart">
            <c:chart xmlns:c="http://schemas.openxmlformats.org/drawingml/2006/chart" r:id="rId1"/>
          </a:graphicData>
        </a:graphic>
      </p:graphicFrame>
      <p:sp>
        <p:nvSpPr>
          <p:cNvPr id="9" name="Text 6"/>
          <p:cNvSpPr txBox="1"/>
          <p:nvPr/>
        </p:nvSpPr>
        <p:spPr>
          <a:xfrm>
            <a:off x="548640" y="6053328"/>
            <a:ext cx="11094415" cy="292608"/>
          </a:xfrm>
          <a:prstGeom prst="rect">
            <a:avLst/>
          </a:prstGeom>
          <a:noFill/>
          <a:ln/>
        </p:spPr>
        <p:txBody>
          <a:bodyPr wrap="square" lIns="0" tIns="0" rIns="0" bIns="0" rtlCol="0" anchor="b"/>
          <a:lstStyle/>
          <a:p>
            <a:pPr indent="0" marL="0">
              <a:buNone/>
            </a:pPr>
            <a:r>
              <a:rPr lang="en-US" sz="1000" dirty="0">
                <a:solidFill>
                  <a:srgbClr val="7D8689"/>
                </a:solidFill>
              </a:rPr>
              <a:t>Five held-out days, scored by the same ranking the console uses (severity tier first, then confidence and size). Numbers: ml/reports/triage.json.</a:t>
            </a:r>
            <a:endParaRPr lang="en-US" sz="10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D8689"/>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822960"/>
          </a:xfrm>
          <a:prstGeom prst="rect">
            <a:avLst/>
          </a:prstGeom>
          <a:noFill/>
          <a:ln/>
        </p:spPr>
        <p:txBody>
          <a:bodyPr wrap="square" lIns="0" tIns="0" rIns="0" bIns="0" rtlCol="0" anchor="t"/>
          <a:lstStyle/>
          <a:p>
            <a:pPr algn="l" indent="0" marL="0">
              <a:buNone/>
            </a:pPr>
            <a:r>
              <a:rPr lang="en-US" sz="3000" b="1" dirty="0">
                <a:solidFill>
                  <a:schemeClr val="bg1"/>
                </a:solidFill>
              </a:rPr>
              <a:t>Built to run cheaply and to be trusted</a:t>
            </a:r>
            <a:endParaRPr lang="en-US" sz="3000" dirty="0"/>
          </a:p>
        </p:txBody>
      </p:sp>
      <p:sp>
        <p:nvSpPr>
          <p:cNvPr id="3" name="Text 1"/>
          <p:cNvSpPr txBox="1"/>
          <p:nvPr/>
        </p:nvSpPr>
        <p:spPr>
          <a:xfrm>
            <a:off x="548640" y="1371600"/>
            <a:ext cx="1737360" cy="365760"/>
          </a:xfrm>
          <a:prstGeom prst="rect">
            <a:avLst/>
          </a:prstGeom>
          <a:noFill/>
          <a:ln/>
        </p:spPr>
        <p:txBody>
          <a:bodyPr wrap="square" lIns="0" tIns="0" rIns="0" bIns="0" rtlCol="0" anchor="t"/>
          <a:lstStyle/>
          <a:p>
            <a:pPr indent="0" marL="0">
              <a:buNone/>
            </a:pPr>
            <a:r>
              <a:rPr lang="en-US" sz="1600" b="1" dirty="0">
                <a:solidFill>
                  <a:schemeClr val="accent1"/>
                </a:solidFill>
              </a:rPr>
              <a:t>Training</a:t>
            </a:r>
            <a:endParaRPr lang="en-US" sz="1600" dirty="0"/>
          </a:p>
        </p:txBody>
      </p:sp>
      <p:sp>
        <p:nvSpPr>
          <p:cNvPr id="4" name="Text 2"/>
          <p:cNvSpPr txBox="1"/>
          <p:nvPr/>
        </p:nvSpPr>
        <p:spPr>
          <a:xfrm>
            <a:off x="2377440" y="1371600"/>
            <a:ext cx="3657600" cy="1051560"/>
          </a:xfrm>
          <a:prstGeom prst="rect">
            <a:avLst/>
          </a:prstGeom>
          <a:noFill/>
          <a:ln/>
        </p:spPr>
        <p:txBody>
          <a:bodyPr wrap="square" lIns="0" tIns="0" rIns="0" bIns="0" rtlCol="0" anchor="t"/>
          <a:lstStyle/>
          <a:p>
            <a:pPr indent="0" marL="0">
              <a:buNone/>
            </a:pPr>
            <a:r>
              <a:rPr lang="en-US" sz="1400" dirty="0">
                <a:solidFill>
                  <a:schemeClr val="bg2"/>
                </a:solidFill>
              </a:rPr>
              <a:t>Python, LightGBM, conformal calibration and an Isolation Forest, trained on the corrected CIC‑IDS2017.</a:t>
            </a:r>
            <a:endParaRPr lang="en-US" sz="1400" dirty="0"/>
          </a:p>
        </p:txBody>
      </p:sp>
      <p:sp>
        <p:nvSpPr>
          <p:cNvPr id="5" name="Text 3"/>
          <p:cNvSpPr txBox="1"/>
          <p:nvPr/>
        </p:nvSpPr>
        <p:spPr>
          <a:xfrm>
            <a:off x="548640" y="2514600"/>
            <a:ext cx="1737360" cy="365760"/>
          </a:xfrm>
          <a:prstGeom prst="rect">
            <a:avLst/>
          </a:prstGeom>
          <a:noFill/>
          <a:ln/>
        </p:spPr>
        <p:txBody>
          <a:bodyPr wrap="square" lIns="0" tIns="0" rIns="0" bIns="0" rtlCol="0" anchor="t"/>
          <a:lstStyle/>
          <a:p>
            <a:pPr indent="0" marL="0">
              <a:buNone/>
            </a:pPr>
            <a:r>
              <a:rPr lang="en-US" sz="1600" b="1" dirty="0">
                <a:solidFill>
                  <a:schemeClr val="accent1"/>
                </a:solidFill>
              </a:rPr>
              <a:t>Scoring</a:t>
            </a:r>
            <a:endParaRPr lang="en-US" sz="1600" dirty="0"/>
          </a:p>
        </p:txBody>
      </p:sp>
      <p:sp>
        <p:nvSpPr>
          <p:cNvPr id="6" name="Text 4"/>
          <p:cNvSpPr txBox="1"/>
          <p:nvPr/>
        </p:nvSpPr>
        <p:spPr>
          <a:xfrm>
            <a:off x="2377440" y="2514600"/>
            <a:ext cx="3657600" cy="1051560"/>
          </a:xfrm>
          <a:prstGeom prst="rect">
            <a:avLst/>
          </a:prstGeom>
          <a:noFill/>
          <a:ln/>
        </p:spPr>
        <p:txBody>
          <a:bodyPr wrap="square" lIns="0" tIns="0" rIns="0" bIns="0" rtlCol="0" anchor="t"/>
          <a:lstStyle/>
          <a:p>
            <a:pPr indent="0" marL="0">
              <a:buNone/>
            </a:pPr>
            <a:r>
              <a:rPr lang="en-US" sz="1400" dirty="0">
                <a:solidFill>
                  <a:schemeClr val="bg2"/>
                </a:solidFill>
              </a:rPr>
              <a:t>The model runs in TypeScript inside the web app. It matches Python to within 0.000001 on 901 test flows.</a:t>
            </a:r>
            <a:endParaRPr lang="en-US" sz="1400" dirty="0"/>
          </a:p>
        </p:txBody>
      </p:sp>
      <p:sp>
        <p:nvSpPr>
          <p:cNvPr id="7" name="Text 5"/>
          <p:cNvSpPr txBox="1"/>
          <p:nvPr/>
        </p:nvSpPr>
        <p:spPr>
          <a:xfrm>
            <a:off x="548640" y="3657600"/>
            <a:ext cx="1737360" cy="365760"/>
          </a:xfrm>
          <a:prstGeom prst="rect">
            <a:avLst/>
          </a:prstGeom>
          <a:noFill/>
          <a:ln/>
        </p:spPr>
        <p:txBody>
          <a:bodyPr wrap="square" lIns="0" tIns="0" rIns="0" bIns="0" rtlCol="0" anchor="t"/>
          <a:lstStyle/>
          <a:p>
            <a:pPr indent="0" marL="0">
              <a:buNone/>
            </a:pPr>
            <a:r>
              <a:rPr lang="en-US" sz="1600" b="1" dirty="0">
                <a:solidFill>
                  <a:schemeClr val="accent1"/>
                </a:solidFill>
              </a:rPr>
              <a:t>Data and sign-in</a:t>
            </a:r>
            <a:endParaRPr lang="en-US" sz="1600" dirty="0"/>
          </a:p>
        </p:txBody>
      </p:sp>
      <p:sp>
        <p:nvSpPr>
          <p:cNvPr id="8" name="Text 6"/>
          <p:cNvSpPr txBox="1"/>
          <p:nvPr/>
        </p:nvSpPr>
        <p:spPr>
          <a:xfrm>
            <a:off x="2377440" y="3657600"/>
            <a:ext cx="3657600" cy="1051560"/>
          </a:xfrm>
          <a:prstGeom prst="rect">
            <a:avLst/>
          </a:prstGeom>
          <a:noFill/>
          <a:ln/>
        </p:spPr>
        <p:txBody>
          <a:bodyPr wrap="square" lIns="0" tIns="0" rIns="0" bIns="0" rtlCol="0" anchor="t"/>
          <a:lstStyle/>
          <a:p>
            <a:pPr indent="0" marL="0">
              <a:buNone/>
            </a:pPr>
            <a:r>
              <a:rPr lang="en-US" sz="1400" dirty="0">
                <a:solidFill>
                  <a:schemeClr val="bg2"/>
                </a:solidFill>
              </a:rPr>
              <a:t>Neon Postgres stores sessions, incidents and decisions; Neon Auth handles accounts.</a:t>
            </a:r>
            <a:endParaRPr lang="en-US" sz="1400" dirty="0"/>
          </a:p>
        </p:txBody>
      </p:sp>
      <p:sp>
        <p:nvSpPr>
          <p:cNvPr id="9" name="Text 7"/>
          <p:cNvSpPr txBox="1"/>
          <p:nvPr/>
        </p:nvSpPr>
        <p:spPr>
          <a:xfrm>
            <a:off x="548640" y="4800600"/>
            <a:ext cx="1737360" cy="365760"/>
          </a:xfrm>
          <a:prstGeom prst="rect">
            <a:avLst/>
          </a:prstGeom>
          <a:noFill/>
          <a:ln/>
        </p:spPr>
        <p:txBody>
          <a:bodyPr wrap="square" lIns="0" tIns="0" rIns="0" bIns="0" rtlCol="0" anchor="t"/>
          <a:lstStyle/>
          <a:p>
            <a:pPr indent="0" marL="0">
              <a:buNone/>
            </a:pPr>
            <a:r>
              <a:rPr lang="en-US" sz="1600" b="1" dirty="0">
                <a:solidFill>
                  <a:schemeClr val="accent1"/>
                </a:solidFill>
              </a:rPr>
              <a:t>Hosting</a:t>
            </a:r>
            <a:endParaRPr lang="en-US" sz="1600" dirty="0"/>
          </a:p>
        </p:txBody>
      </p:sp>
      <p:sp>
        <p:nvSpPr>
          <p:cNvPr id="10" name="Text 8"/>
          <p:cNvSpPr txBox="1"/>
          <p:nvPr/>
        </p:nvSpPr>
        <p:spPr>
          <a:xfrm>
            <a:off x="2377440" y="4800600"/>
            <a:ext cx="3657600" cy="1051560"/>
          </a:xfrm>
          <a:prstGeom prst="rect">
            <a:avLst/>
          </a:prstGeom>
          <a:noFill/>
          <a:ln/>
        </p:spPr>
        <p:txBody>
          <a:bodyPr wrap="square" lIns="0" tIns="0" rIns="0" bIns="0" rtlCol="0" anchor="t"/>
          <a:lstStyle/>
          <a:p>
            <a:pPr indent="0" marL="0">
              <a:buNone/>
            </a:pPr>
            <a:r>
              <a:rPr lang="en-US" sz="1400" dirty="0">
                <a:solidFill>
                  <a:schemeClr val="bg2"/>
                </a:solidFill>
              </a:rPr>
              <a:t>Next.js on Vercel. Free tiers cover a pilot for a small organization.</a:t>
            </a:r>
            <a:endParaRPr lang="en-US" sz="1400" dirty="0"/>
          </a:p>
        </p:txBody>
      </p:sp>
      <p:sp>
        <p:nvSpPr>
          <p:cNvPr id="11" name="security"/>
          <p:cNvSpPr/>
          <p:nvPr/>
        </p:nvSpPr>
        <p:spPr>
          <a:xfrm>
            <a:off x="6172200" y="1325880"/>
            <a:ext cx="5440680" cy="4526280"/>
          </a:xfrm>
          <a:prstGeom prst="roundRect">
            <a:avLst>
              <a:gd name="adj" fmla="val 1616"/>
            </a:avLst>
          </a:prstGeom>
          <a:solidFill>
            <a:schemeClr val="tx2"/>
          </a:solidFill>
          <a:ln w="9525">
            <a:solidFill>
              <a:srgbClr val="262C2F"/>
            </a:solidFill>
            <a:prstDash val="solid"/>
          </a:ln>
        </p:spPr>
      </p:sp>
      <p:sp>
        <p:nvSpPr>
          <p:cNvPr id="12" name="Text 10"/>
          <p:cNvSpPr txBox="1"/>
          <p:nvPr/>
        </p:nvSpPr>
        <p:spPr>
          <a:xfrm>
            <a:off x="6446520" y="1554480"/>
            <a:ext cx="4937760" cy="411480"/>
          </a:xfrm>
          <a:prstGeom prst="rect">
            <a:avLst/>
          </a:prstGeom>
          <a:noFill/>
          <a:ln/>
        </p:spPr>
        <p:txBody>
          <a:bodyPr wrap="square" lIns="0" tIns="0" rIns="0" bIns="0" rtlCol="0" anchor="t"/>
          <a:lstStyle/>
          <a:p>
            <a:pPr indent="0" marL="0">
              <a:buNone/>
            </a:pPr>
            <a:r>
              <a:rPr lang="en-US" sz="1800" b="1" dirty="0">
                <a:solidFill>
                  <a:schemeClr val="bg1"/>
                </a:solidFill>
              </a:rPr>
              <a:t>Security of Nightwatch itself</a:t>
            </a:r>
            <a:endParaRPr lang="en-US" sz="1800" dirty="0"/>
          </a:p>
        </p:txBody>
      </p:sp>
      <p:sp>
        <p:nvSpPr>
          <p:cNvPr id="13" name="Text 11"/>
          <p:cNvSpPr txBox="1"/>
          <p:nvPr/>
        </p:nvSpPr>
        <p:spPr>
          <a:xfrm>
            <a:off x="6446520" y="2103120"/>
            <a:ext cx="4937760" cy="35661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bg2"/>
                </a:solidFill>
              </a:rPr>
              <a:t>Every data route checks the signed-in user on the server</a:t>
            </a:r>
            <a:endParaRPr lang="en-US" sz="1500" dirty="0"/>
          </a:p>
          <a:p>
            <a:pPr marL="342900" indent="-342900">
              <a:spcAft>
                <a:spcPts val="800"/>
              </a:spcAft>
              <a:buSzPct val="100000"/>
              <a:buChar char="•"/>
            </a:pPr>
            <a:r>
              <a:rPr lang="en-US" sz="1500" dirty="0">
                <a:solidFill>
                  <a:schemeClr val="bg2"/>
                </a:solidFill>
              </a:rPr>
              <a:t>Uploaded logs are scored in memory and never stored</a:t>
            </a:r>
            <a:endParaRPr lang="en-US" sz="1500" dirty="0"/>
          </a:p>
          <a:p>
            <a:pPr marL="342900" indent="-342900">
              <a:spcAft>
                <a:spcPts val="800"/>
              </a:spcAft>
              <a:buSzPct val="100000"/>
              <a:buChar char="•"/>
            </a:pPr>
            <a:r>
              <a:rPr lang="en-US" sz="1500" dirty="0">
                <a:solidFill>
                  <a:schemeClr val="bg2"/>
                </a:solidFill>
              </a:rPr>
              <a:t>Rate limits on uploads and session starts</a:t>
            </a:r>
            <a:endParaRPr lang="en-US" sz="1500" dirty="0"/>
          </a:p>
          <a:p>
            <a:pPr marL="342900" indent="-342900">
              <a:spcAft>
                <a:spcPts val="800"/>
              </a:spcAft>
              <a:buSzPct val="100000"/>
              <a:buChar char="•"/>
            </a:pPr>
            <a:r>
              <a:rPr lang="en-US" sz="1500" dirty="0">
                <a:solidFill>
                  <a:schemeClr val="bg2"/>
                </a:solidFill>
              </a:rPr>
              <a:t>Append-only audit log of every analyst decision</a:t>
            </a:r>
            <a:endParaRPr lang="en-US" sz="1500" dirty="0"/>
          </a:p>
          <a:p>
            <a:pPr marL="342900" indent="-342900">
              <a:spcAft>
                <a:spcPts val="800"/>
              </a:spcAft>
              <a:buSzPct val="100000"/>
              <a:buChar char="•"/>
            </a:pPr>
            <a:r>
              <a:rPr lang="en-US" sz="1500" dirty="0">
                <a:solidFill>
                  <a:schemeClr val="bg2"/>
                </a:solidFill>
              </a:rPr>
              <a:t>Strict security headers (HSTS, frame denial, no sniffing)</a:t>
            </a:r>
            <a:endParaRPr lang="en-US" sz="1500" dirty="0"/>
          </a:p>
          <a:p>
            <a:pPr marL="342900" indent="-342900">
              <a:spcAft>
                <a:spcPts val="800"/>
              </a:spcAft>
              <a:buSzPct val="100000"/>
              <a:buChar char="•"/>
            </a:pPr>
            <a:r>
              <a:rPr lang="en-US" sz="1500" dirty="0">
                <a:solidFill>
                  <a:schemeClr val="bg2"/>
                </a:solidFill>
              </a:rPr>
              <a:t>Database credentials never reach the browser</a:t>
            </a:r>
            <a:endParaRPr lang="en-US" sz="1500" dirty="0"/>
          </a:p>
          <a:p>
            <a:pPr marL="342900" indent="-342900">
              <a:spcAft>
                <a:spcPts val="800"/>
              </a:spcAft>
              <a:buSzPct val="100000"/>
              <a:buChar char="•"/>
            </a:pPr>
            <a:r>
              <a:rPr lang="en-US" sz="1500" dirty="0">
                <a:solidFill>
                  <a:schemeClr val="bg2"/>
                </a:solidFill>
              </a:rPr>
              <a:t>No automatic blocking; a person always decides</a:t>
            </a:r>
            <a:endParaRPr lang="en-US" sz="1500" dirty="0"/>
          </a:p>
        </p:txBody>
      </p:sp>
      <p:sp>
        <p:nvSpPr>
          <p:cNvPr id="14" name="Text 12"/>
          <p:cNvSpPr txBox="1"/>
          <p:nvPr/>
        </p:nvSpPr>
        <p:spPr>
          <a:xfrm>
            <a:off x="548640" y="6053328"/>
            <a:ext cx="11094415" cy="292608"/>
          </a:xfrm>
          <a:prstGeom prst="rect">
            <a:avLst/>
          </a:prstGeom>
          <a:noFill/>
          <a:ln/>
        </p:spPr>
        <p:txBody>
          <a:bodyPr wrap="square" lIns="0" tIns="0" rIns="0" bIns="0" rtlCol="0" anchor="b"/>
          <a:lstStyle/>
          <a:p>
            <a:pPr indent="0" marL="0">
              <a:buNone/>
            </a:pPr>
            <a:r>
              <a:rPr lang="en-US" sz="1000" dirty="0">
                <a:solidFill>
                  <a:srgbClr val="7D8689"/>
                </a:solidFill>
              </a:rPr>
              <a:t>Code: ml/ (pipeline, 28 tests) and web/ (app, 12 tests including the scoring parity check).</a:t>
            </a:r>
            <a:endParaRPr lang="en-US" sz="10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D8689"/>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822960"/>
          </a:xfrm>
          <a:prstGeom prst="rect">
            <a:avLst/>
          </a:prstGeom>
          <a:noFill/>
          <a:ln/>
        </p:spPr>
        <p:txBody>
          <a:bodyPr wrap="square" lIns="0" tIns="0" rIns="0" bIns="0" rtlCol="0" anchor="t"/>
          <a:lstStyle/>
          <a:p>
            <a:pPr algn="l" indent="0" marL="0">
              <a:buNone/>
            </a:pPr>
            <a:r>
              <a:rPr lang="en-US" sz="3000" b="1" dirty="0">
                <a:solidFill>
                  <a:schemeClr val="bg1"/>
                </a:solidFill>
              </a:rPr>
              <a:t>What it takes to adopt, and what comes next</a:t>
            </a:r>
            <a:endParaRPr lang="en-US" sz="3000" dirty="0"/>
          </a:p>
        </p:txBody>
      </p:sp>
      <p:sp>
        <p:nvSpPr>
          <p:cNvPr id="3" name="adopt 1"/>
          <p:cNvSpPr/>
          <p:nvPr/>
        </p:nvSpPr>
        <p:spPr>
          <a:xfrm>
            <a:off x="548640" y="1463040"/>
            <a:ext cx="3520440" cy="4023360"/>
          </a:xfrm>
          <a:prstGeom prst="roundRect">
            <a:avLst>
              <a:gd name="adj" fmla="val 2078"/>
            </a:avLst>
          </a:prstGeom>
          <a:solidFill>
            <a:schemeClr val="tx2"/>
          </a:solidFill>
          <a:ln w="9525">
            <a:solidFill>
              <a:srgbClr val="262C2F"/>
            </a:solidFill>
            <a:prstDash val="solid"/>
          </a:ln>
        </p:spPr>
      </p:sp>
      <p:sp>
        <p:nvSpPr>
          <p:cNvPr id="4" name="Text 2"/>
          <p:cNvSpPr txBox="1"/>
          <p:nvPr/>
        </p:nvSpPr>
        <p:spPr>
          <a:xfrm>
            <a:off x="822960" y="1737360"/>
            <a:ext cx="3017520" cy="411480"/>
          </a:xfrm>
          <a:prstGeom prst="rect">
            <a:avLst/>
          </a:prstGeom>
          <a:noFill/>
          <a:ln/>
        </p:spPr>
        <p:txBody>
          <a:bodyPr wrap="square" lIns="0" tIns="0" rIns="0" bIns="0" rtlCol="0" anchor="t"/>
          <a:lstStyle/>
          <a:p>
            <a:pPr indent="0" marL="0">
              <a:buNone/>
            </a:pPr>
            <a:r>
              <a:rPr lang="en-US" sz="1800" b="1" dirty="0">
                <a:solidFill>
                  <a:schemeClr val="accent1"/>
                </a:solidFill>
              </a:rPr>
              <a:t>Adopt this week</a:t>
            </a:r>
            <a:endParaRPr lang="en-US" sz="1800" dirty="0"/>
          </a:p>
        </p:txBody>
      </p:sp>
      <p:sp>
        <p:nvSpPr>
          <p:cNvPr id="5" name="Text 3"/>
          <p:cNvSpPr txBox="1"/>
          <p:nvPr/>
        </p:nvSpPr>
        <p:spPr>
          <a:xfrm>
            <a:off x="822960" y="2331720"/>
            <a:ext cx="3017520" cy="301752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bg2"/>
                </a:solidFill>
              </a:rPr>
              <a:t>Export flow logs with the free CICFlowMeter tool</a:t>
            </a:r>
            <a:endParaRPr lang="en-US" sz="1500" dirty="0"/>
          </a:p>
          <a:p>
            <a:pPr marL="342900" indent="-342900">
              <a:spcAft>
                <a:spcPts val="1000"/>
              </a:spcAft>
              <a:buSzPct val="100000"/>
              <a:buChar char="•"/>
            </a:pPr>
            <a:r>
              <a:rPr lang="en-US" sz="1500" dirty="0">
                <a:solidFill>
                  <a:schemeClr val="bg2"/>
                </a:solidFill>
              </a:rPr>
              <a:t>Upload them on the Check your network page</a:t>
            </a:r>
            <a:endParaRPr lang="en-US" sz="1500" dirty="0"/>
          </a:p>
          <a:p>
            <a:pPr marL="342900" indent="-342900">
              <a:spcAft>
                <a:spcPts val="1000"/>
              </a:spcAft>
              <a:buSzPct val="100000"/>
              <a:buChar char="•"/>
            </a:pPr>
            <a:r>
              <a:rPr lang="en-US" sz="1500" dirty="0">
                <a:solidFill>
                  <a:schemeClr val="bg2"/>
                </a:solidFill>
              </a:rPr>
              <a:t>Review the ranked list and confirm or dismiss</a:t>
            </a:r>
            <a:endParaRPr lang="en-US" sz="1500" dirty="0"/>
          </a:p>
          <a:p>
            <a:pPr marL="342900" indent="-342900">
              <a:spcAft>
                <a:spcPts val="1000"/>
              </a:spcAft>
              <a:buSzPct val="100000"/>
              <a:buChar char="•"/>
            </a:pPr>
            <a:r>
              <a:rPr lang="en-US" sz="1500" dirty="0">
                <a:solidFill>
                  <a:schemeClr val="bg2"/>
                </a:solidFill>
              </a:rPr>
              <a:t>Hand the draft report to the Data Protection Officer</a:t>
            </a:r>
            <a:endParaRPr lang="en-US" sz="1500" dirty="0"/>
          </a:p>
        </p:txBody>
      </p:sp>
      <p:sp>
        <p:nvSpPr>
          <p:cNvPr id="6" name="adopt 2"/>
          <p:cNvSpPr/>
          <p:nvPr/>
        </p:nvSpPr>
        <p:spPr>
          <a:xfrm>
            <a:off x="4297680" y="1463040"/>
            <a:ext cx="3520440" cy="4023360"/>
          </a:xfrm>
          <a:prstGeom prst="roundRect">
            <a:avLst>
              <a:gd name="adj" fmla="val 2078"/>
            </a:avLst>
          </a:prstGeom>
          <a:solidFill>
            <a:schemeClr val="tx2"/>
          </a:solidFill>
          <a:ln w="9525">
            <a:solidFill>
              <a:srgbClr val="262C2F"/>
            </a:solidFill>
            <a:prstDash val="solid"/>
          </a:ln>
        </p:spPr>
      </p:sp>
      <p:sp>
        <p:nvSpPr>
          <p:cNvPr id="7" name="Text 5"/>
          <p:cNvSpPr txBox="1"/>
          <p:nvPr/>
        </p:nvSpPr>
        <p:spPr>
          <a:xfrm>
            <a:off x="4572000" y="1737360"/>
            <a:ext cx="3017520" cy="411480"/>
          </a:xfrm>
          <a:prstGeom prst="rect">
            <a:avLst/>
          </a:prstGeom>
          <a:noFill/>
          <a:ln/>
        </p:spPr>
        <p:txBody>
          <a:bodyPr wrap="square" lIns="0" tIns="0" rIns="0" bIns="0" rtlCol="0" anchor="t"/>
          <a:lstStyle/>
          <a:p>
            <a:pPr indent="0" marL="0">
              <a:buNone/>
            </a:pPr>
            <a:r>
              <a:rPr lang="en-US" sz="1800" b="1" dirty="0">
                <a:solidFill>
                  <a:schemeClr val="accent2"/>
                </a:solidFill>
              </a:rPr>
              <a:t>Known limits</a:t>
            </a:r>
            <a:endParaRPr lang="en-US" sz="1800" dirty="0"/>
          </a:p>
        </p:txBody>
      </p:sp>
      <p:sp>
        <p:nvSpPr>
          <p:cNvPr id="8" name="Text 6"/>
          <p:cNvSpPr txBox="1"/>
          <p:nvPr/>
        </p:nvSpPr>
        <p:spPr>
          <a:xfrm>
            <a:off x="4572000" y="2331720"/>
            <a:ext cx="3017520" cy="301752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bg2"/>
                </a:solidFill>
              </a:rPr>
              <a:t>Trained on one public lab dataset from 2017</a:t>
            </a:r>
            <a:endParaRPr lang="en-US" sz="1500" dirty="0"/>
          </a:p>
          <a:p>
            <a:pPr marL="342900" indent="-342900">
              <a:spcAft>
                <a:spcPts val="1000"/>
              </a:spcAft>
              <a:buSzPct val="100000"/>
              <a:buChar char="•"/>
            </a:pPr>
            <a:r>
              <a:rPr lang="en-US" sz="1500" dirty="0">
                <a:solidFill>
                  <a:schemeClr val="bg2"/>
                </a:solidFill>
              </a:rPr>
              <a:t>Attacks that imitate normal traffic can slip through</a:t>
            </a:r>
            <a:endParaRPr lang="en-US" sz="1500" dirty="0"/>
          </a:p>
          <a:p>
            <a:pPr marL="342900" indent="-342900">
              <a:spcAft>
                <a:spcPts val="1000"/>
              </a:spcAft>
              <a:buSzPct val="100000"/>
              <a:buChar char="•"/>
            </a:pPr>
            <a:r>
              <a:rPr lang="en-US" sz="1500" dirty="0">
                <a:solidFill>
                  <a:schemeClr val="bg2"/>
                </a:solidFill>
              </a:rPr>
              <a:t>A quiet day still produced 96 low-priority items to review</a:t>
            </a:r>
            <a:endParaRPr lang="en-US" sz="1500" dirty="0"/>
          </a:p>
          <a:p>
            <a:pPr marL="342900" indent="-342900">
              <a:spcAft>
                <a:spcPts val="1000"/>
              </a:spcAft>
              <a:buSzPct val="100000"/>
              <a:buChar char="•"/>
            </a:pPr>
            <a:r>
              <a:rPr lang="en-US" sz="1500" dirty="0">
                <a:solidFill>
                  <a:schemeClr val="bg2"/>
                </a:solidFill>
              </a:rPr>
              <a:t>Reports are drafts, not legal advice</a:t>
            </a:r>
            <a:endParaRPr lang="en-US" sz="1500" dirty="0"/>
          </a:p>
        </p:txBody>
      </p:sp>
      <p:sp>
        <p:nvSpPr>
          <p:cNvPr id="9" name="adopt 3"/>
          <p:cNvSpPr/>
          <p:nvPr/>
        </p:nvSpPr>
        <p:spPr>
          <a:xfrm>
            <a:off x="8046720" y="1463040"/>
            <a:ext cx="3520440" cy="4023360"/>
          </a:xfrm>
          <a:prstGeom prst="roundRect">
            <a:avLst>
              <a:gd name="adj" fmla="val 2078"/>
            </a:avLst>
          </a:prstGeom>
          <a:solidFill>
            <a:schemeClr val="tx2"/>
          </a:solidFill>
          <a:ln w="9525">
            <a:solidFill>
              <a:srgbClr val="262C2F"/>
            </a:solidFill>
            <a:prstDash val="solid"/>
          </a:ln>
        </p:spPr>
      </p:sp>
      <p:sp>
        <p:nvSpPr>
          <p:cNvPr id="10" name="Text 8"/>
          <p:cNvSpPr txBox="1"/>
          <p:nvPr/>
        </p:nvSpPr>
        <p:spPr>
          <a:xfrm>
            <a:off x="8321040" y="1737360"/>
            <a:ext cx="3017520" cy="411480"/>
          </a:xfrm>
          <a:prstGeom prst="rect">
            <a:avLst/>
          </a:prstGeom>
          <a:noFill/>
          <a:ln/>
        </p:spPr>
        <p:txBody>
          <a:bodyPr wrap="square" lIns="0" tIns="0" rIns="0" bIns="0" rtlCol="0" anchor="t"/>
          <a:lstStyle/>
          <a:p>
            <a:pPr indent="0" marL="0">
              <a:buNone/>
            </a:pPr>
            <a:r>
              <a:rPr lang="en-US" sz="1800" b="1" dirty="0">
                <a:solidFill>
                  <a:schemeClr val="bg1"/>
                </a:solidFill>
              </a:rPr>
              <a:t>Next</a:t>
            </a:r>
            <a:endParaRPr lang="en-US" sz="1800" dirty="0"/>
          </a:p>
        </p:txBody>
      </p:sp>
      <p:sp>
        <p:nvSpPr>
          <p:cNvPr id="11" name="Text 9"/>
          <p:cNvSpPr txBox="1"/>
          <p:nvPr/>
        </p:nvSpPr>
        <p:spPr>
          <a:xfrm>
            <a:off x="8321040" y="2331720"/>
            <a:ext cx="3017520" cy="301752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bg2"/>
                </a:solidFill>
              </a:rPr>
              <a:t>Test on the corrected 2018 dataset for drift</a:t>
            </a:r>
            <a:endParaRPr lang="en-US" sz="1500" dirty="0"/>
          </a:p>
          <a:p>
            <a:pPr marL="342900" indent="-342900">
              <a:spcAft>
                <a:spcPts val="1000"/>
              </a:spcAft>
              <a:buSzPct val="100000"/>
              <a:buChar char="•"/>
            </a:pPr>
            <a:r>
              <a:rPr lang="en-US" sz="1500" dirty="0">
                <a:solidFill>
                  <a:schemeClr val="bg2"/>
                </a:solidFill>
              </a:rPr>
              <a:t>Learn from analyst decisions to cut repeat false alarms</a:t>
            </a:r>
            <a:endParaRPr lang="en-US" sz="1500" dirty="0"/>
          </a:p>
          <a:p>
            <a:pPr marL="342900" indent="-342900">
              <a:spcAft>
                <a:spcPts val="1000"/>
              </a:spcAft>
              <a:buSzPct val="100000"/>
              <a:buChar char="•"/>
            </a:pPr>
            <a:r>
              <a:rPr lang="en-US" sz="1500" dirty="0">
                <a:solidFill>
                  <a:schemeClr val="bg2"/>
                </a:solidFill>
              </a:rPr>
              <a:t>Tune the false-alert budget per site</a:t>
            </a:r>
            <a:endParaRPr lang="en-US" sz="1500" dirty="0"/>
          </a:p>
          <a:p>
            <a:pPr marL="342900" indent="-342900">
              <a:spcAft>
                <a:spcPts val="1000"/>
              </a:spcAft>
              <a:buSzPct val="100000"/>
              <a:buChar char="•"/>
            </a:pPr>
            <a:r>
              <a:rPr lang="en-US" sz="1500" dirty="0">
                <a:solidFill>
                  <a:schemeClr val="bg2"/>
                </a:solidFill>
              </a:rPr>
              <a:t>Pilot with a school or local government office</a:t>
            </a:r>
            <a:endParaRPr lang="en-US" sz="1500" dirty="0"/>
          </a:p>
        </p:txBody>
      </p:sp>
      <p:sp>
        <p:nvSpPr>
          <p:cNvPr id="12" name="Text 10"/>
          <p:cNvSpPr txBox="1"/>
          <p:nvPr/>
        </p:nvSpPr>
        <p:spPr>
          <a:xfrm>
            <a:off x="548640" y="6053328"/>
            <a:ext cx="11094415" cy="292608"/>
          </a:xfrm>
          <a:prstGeom prst="rect">
            <a:avLst/>
          </a:prstGeom>
          <a:noFill/>
          <a:ln/>
        </p:spPr>
        <p:txBody>
          <a:bodyPr wrap="square" lIns="0" tIns="0" rIns="0" bIns="0" rtlCol="0" anchor="b"/>
          <a:lstStyle/>
          <a:p>
            <a:pPr indent="0" marL="0">
              <a:buNone/>
            </a:pPr>
            <a:r>
              <a:rPr lang="en-US" sz="1000" dirty="0">
                <a:solidFill>
                  <a:srgbClr val="7D8689"/>
                </a:solidFill>
              </a:rPr>
              <a:t>Quiet-day figure: Monday replay, no attacks, ml/reports/triage.json.</a:t>
            </a:r>
            <a:endParaRPr lang="en-US" sz="10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D8689"/>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1463040"/>
            <a:ext cx="7315200" cy="457200"/>
          </a:xfrm>
          <a:prstGeom prst="rect">
            <a:avLst/>
          </a:prstGeom>
          <a:noFill/>
          <a:ln/>
        </p:spPr>
        <p:txBody>
          <a:bodyPr wrap="square" lIns="0" tIns="0" rIns="0" bIns="0" rtlCol="0" anchor="t"/>
          <a:lstStyle/>
          <a:p>
            <a:pPr indent="0" marL="0">
              <a:buNone/>
            </a:pPr>
            <a:r>
              <a:rPr lang="en-US" sz="1800" b="1" dirty="0">
                <a:solidFill>
                  <a:schemeClr val="accent1"/>
                </a:solidFill>
              </a:rPr>
              <a:t>Nightwatch</a:t>
            </a:r>
            <a:endParaRPr lang="en-US" sz="1800" dirty="0"/>
          </a:p>
        </p:txBody>
      </p:sp>
      <p:sp>
        <p:nvSpPr>
          <p:cNvPr id="3" name="Text 1"/>
          <p:cNvSpPr txBox="1"/>
          <p:nvPr/>
        </p:nvSpPr>
        <p:spPr>
          <a:xfrm>
            <a:off x="548640" y="2011680"/>
            <a:ext cx="5760720" cy="2011680"/>
          </a:xfrm>
          <a:prstGeom prst="rect">
            <a:avLst/>
          </a:prstGeom>
          <a:noFill/>
          <a:ln/>
        </p:spPr>
        <p:txBody>
          <a:bodyPr wrap="square" lIns="0" tIns="0" rIns="0" bIns="0" rtlCol="0" anchor="t"/>
          <a:lstStyle/>
          <a:p>
            <a:pPr indent="0" marL="0">
              <a:buNone/>
            </a:pPr>
            <a:r>
              <a:rPr lang="en-US" sz="3400" b="1" dirty="0">
                <a:solidFill>
                  <a:schemeClr val="bg1"/>
                </a:solidFill>
              </a:rPr>
              <a:t>A security analyst for the organizations attackers count on being unwatched</a:t>
            </a:r>
            <a:endParaRPr lang="en-US" sz="3400" dirty="0"/>
          </a:p>
        </p:txBody>
      </p:sp>
      <p:sp>
        <p:nvSpPr>
          <p:cNvPr id="4" name="Text 2"/>
          <p:cNvSpPr txBox="1"/>
          <p:nvPr/>
        </p:nvSpPr>
        <p:spPr>
          <a:xfrm>
            <a:off x="548640" y="4297680"/>
            <a:ext cx="2514600" cy="365760"/>
          </a:xfrm>
          <a:prstGeom prst="rect">
            <a:avLst/>
          </a:prstGeom>
          <a:noFill/>
          <a:ln/>
        </p:spPr>
        <p:txBody>
          <a:bodyPr wrap="square" lIns="0" tIns="0" rIns="0" bIns="0" rtlCol="0" anchor="t"/>
          <a:lstStyle/>
          <a:p>
            <a:pPr indent="0" marL="0">
              <a:buNone/>
            </a:pPr>
            <a:r>
              <a:rPr lang="en-US" sz="1600" b="1" dirty="0">
                <a:solidFill>
                  <a:schemeClr val="bg1"/>
                </a:solidFill>
              </a:rPr>
              <a:t>Try it</a:t>
            </a:r>
            <a:endParaRPr lang="en-US" sz="1600" dirty="0"/>
          </a:p>
        </p:txBody>
      </p:sp>
      <p:sp>
        <p:nvSpPr>
          <p:cNvPr id="5" name="Text 3"/>
          <p:cNvSpPr txBox="1"/>
          <p:nvPr/>
        </p:nvSpPr>
        <p:spPr>
          <a:xfrm>
            <a:off x="548640" y="4709160"/>
            <a:ext cx="2514600" cy="1005840"/>
          </a:xfrm>
          <a:prstGeom prst="rect">
            <a:avLst/>
          </a:prstGeom>
          <a:noFill/>
          <a:ln/>
        </p:spPr>
        <p:txBody>
          <a:bodyPr wrap="square" lIns="0" tIns="0" rIns="0" bIns="0" rtlCol="0" anchor="t"/>
          <a:lstStyle/>
          <a:p>
            <a:pPr indent="0" marL="0">
              <a:buNone/>
            </a:pPr>
            <a:r>
              <a:rPr lang="en-US" sz="1400" dirty="0">
                <a:solidFill>
                  <a:schemeClr val="bg2"/>
                </a:solidFill>
              </a:rPr>
              <a:t>nightwatch-olive.vercel.app</a:t>
            </a:r>
            <a:endParaRPr lang="en-US" sz="1400" dirty="0"/>
          </a:p>
          <a:p>
            <a:pPr indent="0" marL="0">
              <a:buNone/>
            </a:pPr>
            <a:r>
              <a:rPr lang="en-US" sz="1400" dirty="0">
                <a:solidFill>
                  <a:schemeClr val="bg2"/>
                </a:solidFill>
              </a:rPr>
              <a:t>Press “Use the judge demo account” to sign in.</a:t>
            </a:r>
            <a:endParaRPr lang="en-US" sz="1400" dirty="0"/>
          </a:p>
        </p:txBody>
      </p:sp>
      <p:sp>
        <p:nvSpPr>
          <p:cNvPr id="6" name="Text 4"/>
          <p:cNvSpPr txBox="1"/>
          <p:nvPr/>
        </p:nvSpPr>
        <p:spPr>
          <a:xfrm>
            <a:off x="3246120" y="4297680"/>
            <a:ext cx="3246120" cy="365760"/>
          </a:xfrm>
          <a:prstGeom prst="rect">
            <a:avLst/>
          </a:prstGeom>
          <a:noFill/>
          <a:ln/>
        </p:spPr>
        <p:txBody>
          <a:bodyPr wrap="square" lIns="0" tIns="0" rIns="0" bIns="0" rtlCol="0" anchor="t"/>
          <a:lstStyle/>
          <a:p>
            <a:pPr indent="0" marL="0">
              <a:buNone/>
            </a:pPr>
            <a:r>
              <a:rPr lang="en-US" sz="1600" b="1" dirty="0">
                <a:solidFill>
                  <a:schemeClr val="bg1"/>
                </a:solidFill>
              </a:rPr>
              <a:t>Code</a:t>
            </a:r>
            <a:endParaRPr lang="en-US" sz="1600" dirty="0"/>
          </a:p>
        </p:txBody>
      </p:sp>
      <p:sp>
        <p:nvSpPr>
          <p:cNvPr id="7" name="Text 5"/>
          <p:cNvSpPr txBox="1"/>
          <p:nvPr/>
        </p:nvSpPr>
        <p:spPr>
          <a:xfrm>
            <a:off x="3246120" y="4709160"/>
            <a:ext cx="3246120" cy="1005840"/>
          </a:xfrm>
          <a:prstGeom prst="rect">
            <a:avLst/>
          </a:prstGeom>
          <a:noFill/>
          <a:ln/>
        </p:spPr>
        <p:txBody>
          <a:bodyPr wrap="square" lIns="0" tIns="0" rIns="0" bIns="0" rtlCol="0" anchor="t"/>
          <a:lstStyle/>
          <a:p>
            <a:pPr indent="0" marL="0">
              <a:buNone/>
            </a:pPr>
            <a:r>
              <a:rPr lang="en-US" sz="1400" dirty="0">
                <a:solidFill>
                  <a:schemeClr val="bg2"/>
                </a:solidFill>
              </a:rPr>
              <a:t>github.com/yuan05-afk/nightwatch</a:t>
            </a:r>
            <a:endParaRPr lang="en-US" sz="1400" dirty="0"/>
          </a:p>
          <a:p>
            <a:pPr indent="0" marL="0">
              <a:buNone/>
            </a:pPr>
            <a:r>
              <a:rPr lang="en-US" sz="1400" dirty="0">
                <a:solidFill>
                  <a:schemeClr val="bg2"/>
                </a:solidFill>
              </a:rPr>
              <a:t>Every number in this deck is regenerated from it.</a:t>
            </a:r>
            <a:endParaRPr lang="en-US" sz="1400" dirty="0"/>
          </a:p>
        </p:txBody>
      </p:sp>
      <p:sp>
        <p:nvSpPr>
          <p:cNvPr id="8" name="Nightwatch security console frame"/>
          <p:cNvSpPr/>
          <p:nvPr/>
        </p:nvSpPr>
        <p:spPr>
          <a:xfrm>
            <a:off x="6684264" y="1563624"/>
            <a:ext cx="4965192" cy="3127248"/>
          </a:xfrm>
          <a:prstGeom prst="rect">
            <a:avLst/>
          </a:prstGeom>
          <a:solidFill>
            <a:schemeClr val="tx2"/>
          </a:solidFill>
          <a:ln w="9525">
            <a:solidFill>
              <a:srgbClr val="262C2F"/>
            </a:solidFill>
            <a:prstDash val="solid"/>
          </a:ln>
        </p:spPr>
      </p:sp>
      <p:pic>
        <p:nvPicPr>
          <p:cNvPr id="9" name="Nightwatch security console" descr="Nightwatch security console">    </p:cNvPr>
          <p:cNvPicPr>
            <a:picLocks noChangeAspect="1"/>
          </p:cNvPicPr>
          <p:nvPr/>
        </p:nvPicPr>
        <p:blipFill>
          <a:blip r:embed="rId1"/>
          <a:stretch>
            <a:fillRect/>
          </a:stretch>
        </p:blipFill>
        <p:spPr>
          <a:xfrm>
            <a:off x="6720840" y="1600200"/>
            <a:ext cx="4892040" cy="3054096"/>
          </a:xfrm>
          <a:prstGeom prst="rect">
            <a:avLst/>
          </a:prstGeom>
        </p:spPr>
      </p:pic>
      <p:sp>
        <p:nvSpPr>
          <p:cNvPr id="10" name="Text 7"/>
          <p:cNvSpPr txBox="1"/>
          <p:nvPr/>
        </p:nvSpPr>
        <p:spPr>
          <a:xfrm>
            <a:off x="548640" y="5897880"/>
            <a:ext cx="11094415" cy="457200"/>
          </a:xfrm>
          <a:prstGeom prst="rect">
            <a:avLst/>
          </a:prstGeom>
          <a:noFill/>
          <a:ln/>
        </p:spPr>
        <p:txBody>
          <a:bodyPr wrap="square" lIns="0" tIns="0" rIns="0" bIns="0" rtlCol="0" anchor="t"/>
          <a:lstStyle/>
          <a:p>
            <a:pPr indent="0" marL="0">
              <a:buNone/>
            </a:pPr>
            <a:r>
              <a:rPr lang="en-US" sz="1000" dirty="0">
                <a:solidFill>
                  <a:srgbClr val="7D8689"/>
                </a:solidFill>
              </a:rPr>
              <a:t>Data: corrected CIC-IDS2017 (Liu et al., IEEE CNS 2022; Sharafaldin et al., 2018). Libraries: LightGBM, scikit-learn, imbalanced-learn, Next.js, Drizzle, Neon.</a:t>
            </a:r>
            <a:endParaRPr lang="en-US" sz="1000" dirty="0"/>
          </a:p>
        </p:txBody>
      </p:sp>
    </p:spTree>
  </p:cSld>
  <p:clrMapOvr>
    <a:masterClrMapping/>
  </p:clrMapOvr>
</p:sld>
</file>

<file path=ppt/theme/theme1.xml><?xml version="1.0" encoding="utf-8"?>
<a:theme xmlns:a="http://schemas.openxmlformats.org/drawingml/2006/main" name="Nightwatch">
  <a:themeElements>
    <a:clrScheme name="Nightwatch">
      <a:dk1>
        <a:srgbClr val="07090A"/>
      </a:dk1>
      <a:lt1>
        <a:srgbClr val="EDEFEF"/>
      </a:lt1>
      <a:dk2>
        <a:srgbClr val="111416"/>
      </a:dk2>
      <a:lt2>
        <a:srgbClr val="A3ABAD"/>
      </a:lt2>
      <a:accent1>
        <a:srgbClr val="7FE3C4"/>
      </a:accent1>
      <a:accent2>
        <a:srgbClr val="E6AD55"/>
      </a:accent2>
      <a:accent3>
        <a:srgbClr val="E9748F"/>
      </a:accent3>
      <a:accent4>
        <a:srgbClr val="8FB3C9"/>
      </a:accent4>
      <a:accent5>
        <a:srgbClr val="F38A3C"/>
      </a:accent5>
      <a:accent6>
        <a:srgbClr val="F2508F"/>
      </a:accent6>
      <a:hlink>
        <a:srgbClr val="7FE3C4"/>
      </a:hlink>
      <a:folHlink>
        <a:srgbClr val="8FB3C9"/>
      </a:folHlink>
    </a:clrScheme>
    <a:fontScheme name="Nightwatch">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NIGHTWATCH: your night-shift security analyst</dc:title>
  <dc:subject>DataNova 2026, DN-CY-01 Network Intrusion Detection with Imbalanced Threat Data</dc:subject>
  <dc:creator>NIGHTWATCH team</dc:creator>
  <cp:lastModifiedBy>NIGHTWATCH team</cp:lastModifiedBy>
  <cp:revision>1</cp:revision>
  <dcterms:created xsi:type="dcterms:W3CDTF">2026-10-28T14:15:02Z</dcterms:created>
  <dcterms:modified xsi:type="dcterms:W3CDTF">2026-10-28T14:15:02Z</dcterms:modified>
</cp:coreProperties>
</file>